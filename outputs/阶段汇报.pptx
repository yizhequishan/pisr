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672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CFD 数据梯度</c:v>
          </c:tx>
          <c:spPr>
            <a:solidFill>
              <a:srgbClr val="1F5A4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</c:v>
              </c:pt>
              <c:pt idx="1">
                <c:v>cₓ</c:v>
              </c:pt>
              <c:pt idx="2">
                <c:v>cᵧ</c:v>
              </c:pt>
            </c:strLit>
          </c:cat>
          <c:val>
            <c:numLit>
              <c:formatCode>General</c:formatCode>
              <c:ptCount val="3"/>
              <c:pt idx="0">
                <c:v>19.96</c:v>
              </c:pt>
              <c:pt idx="1">
                <c:v>6.16</c:v>
              </c:pt>
              <c:pt idx="2">
                <c:v>10.25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07A-4F9B-B286-5C39AB25F994}"/>
            </c:ext>
          </c:extLst>
        </c:ser>
        <c:ser>
          <c:idx val="1"/>
          <c:order val="1"/>
          <c:tx>
            <c:v>符号解析梯度</c:v>
          </c:tx>
          <c:spPr>
            <a:solidFill>
              <a:srgbClr val="C75B3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</c:v>
              </c:pt>
              <c:pt idx="1">
                <c:v>cₓ</c:v>
              </c:pt>
              <c:pt idx="2">
                <c:v>cᵧ</c:v>
              </c:pt>
            </c:strLit>
          </c:cat>
          <c:val>
            <c:numLit>
              <c:formatCode>General</c:formatCode>
              <c:ptCount val="3"/>
              <c:pt idx="0">
                <c:v>37.78</c:v>
              </c:pt>
              <c:pt idx="1">
                <c:v>35.39</c:v>
              </c:pt>
              <c:pt idx="2">
                <c:v>43.59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07A-4F9B-B286-5C39AB25F99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9E4D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01-rail">
            <a:extLst>
              <a:ext uri="{FF2B5EF4-FFF2-40B4-BE49-F238E27FC236}">
                <a16:creationId xmlns:a16="http://schemas.microsoft.com/office/drawing/2014/main" id="{C5F7D289-2C8D-4AC6-9139-0F9D65BCEA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3" name="s01-title">
            <a:extLst>
              <a:ext uri="{FF2B5EF4-FFF2-40B4-BE49-F238E27FC236}">
                <a16:creationId xmlns:a16="http://schemas.microsoft.com/office/drawing/2014/main" id="{6061C943-495A-403A-BA72-AD7406F5E8B6}"/>
              </a:ext>
            </a:extLst>
          </p:cNvPr>
          <p:cNvSpPr>
            <a:spLocks noGrp="1"/>
          </p:cNvSpPr>
          <p:nvPr/>
        </p:nvSpPr>
        <p:spPr>
          <a:xfrm>
            <a:off x="742950" y="1314450"/>
            <a:ext cx="7402126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4350" b="1" i="0">
                <a:solidFill>
                  <a:srgbClr val="15231C"/>
                </a:solidFill>
              </a:defRPr>
            </a:pPr>
            <a:r>
              <a:rPr sz="4350" b="1" i="0" dirty="0" err="1">
                <a:solidFill>
                  <a:srgbClr val="15231C"/>
                </a:solidFill>
              </a:rPr>
              <a:t>单快照圆柱绕流几何灵敏度</a:t>
            </a:r>
            <a:endParaRPr sz="4350" b="1" i="0" dirty="0">
              <a:solidFill>
                <a:srgbClr val="1523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7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">
            <a:extLst>
              <a:ext uri="{FF2B5EF4-FFF2-40B4-BE49-F238E27FC236}">
                <a16:creationId xmlns:a16="http://schemas.microsoft.com/office/drawing/2014/main" id="{B8E9A975-E686-482F-B931-753266F7A8B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2850" b="1" i="0">
                <a:solidFill>
                  <a:srgbClr val="15231C"/>
                </a:solidFill>
              </a:defRPr>
            </a:pPr>
            <a:r>
              <a:rPr sz="2850" b="1" i="0">
                <a:solidFill>
                  <a:srgbClr val="15231C"/>
                </a:solidFill>
              </a:rPr>
              <a:t>单快照可以恢复 K，但不能唯一确定总灵敏度</a:t>
            </a:r>
          </a:p>
        </p:txBody>
      </p:sp>
      <p:sp>
        <p:nvSpPr>
          <p:cNvPr id="3" name="title-rule-2">
            <a:extLst>
              <a:ext uri="{FF2B5EF4-FFF2-40B4-BE49-F238E27FC236}">
                <a16:creationId xmlns:a16="http://schemas.microsoft.com/office/drawing/2014/main" id="{ADDE6F47-C5E7-426D-B1FE-685C7CA8C36D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104900" cy="38100"/>
          </a:xfrm>
          <a:prstGeom prst="rect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6" name="footer-page-2">
            <a:extLst>
              <a:ext uri="{FF2B5EF4-FFF2-40B4-BE49-F238E27FC236}">
                <a16:creationId xmlns:a16="http://schemas.microsoft.com/office/drawing/2014/main" id="{3A9F1CD8-868A-4512-8A00-2CDB563AFB85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02</a:t>
            </a:r>
          </a:p>
        </p:txBody>
      </p:sp>
      <p:sp>
        <p:nvSpPr>
          <p:cNvPr id="7" name="s02-objective">
            <a:extLst>
              <a:ext uri="{FF2B5EF4-FFF2-40B4-BE49-F238E27FC236}">
                <a16:creationId xmlns:a16="http://schemas.microsoft.com/office/drawing/2014/main" id="{B99D30C1-8F6A-42E2-947D-442A8032488B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C75B3D"/>
                </a:solidFill>
              </a:defRPr>
            </a:pPr>
            <a:r>
              <a:rPr sz="1350" b="1" i="0">
                <a:solidFill>
                  <a:srgbClr val="C75B3D"/>
                </a:solidFill>
              </a:rPr>
              <a:t>研究目标</a:t>
            </a:r>
          </a:p>
        </p:txBody>
      </p:sp>
      <p:sp>
        <p:nvSpPr>
          <p:cNvPr id="8" name="s02-objective-copy">
            <a:extLst>
              <a:ext uri="{FF2B5EF4-FFF2-40B4-BE49-F238E27FC236}">
                <a16:creationId xmlns:a16="http://schemas.microsoft.com/office/drawing/2014/main" id="{BE207083-C6CA-4CBB-B3F3-773178901FE8}"/>
              </a:ext>
            </a:extLst>
          </p:cNvPr>
          <p:cNvSpPr>
            <a:spLocks noGrp="1"/>
          </p:cNvSpPr>
          <p:nvPr/>
        </p:nvSpPr>
        <p:spPr>
          <a:xfrm>
            <a:off x="723900" y="220980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2000"/>
              </a:lnSpc>
              <a:buNone/>
              <a:defRPr sz="1725" b="1" i="0">
                <a:solidFill>
                  <a:srgbClr val="15231C"/>
                </a:solidFill>
              </a:defRPr>
            </a:pPr>
            <a:r>
              <a:rPr sz="1725" b="1" i="0">
                <a:solidFill>
                  <a:srgbClr val="15231C"/>
                </a:solidFill>
              </a:rPr>
              <a:t>从一次基准 CFD 的时均流场出发，</a:t>
            </a:r>
          </a:p>
          <a:p>
            <a:pPr algn="l">
              <a:lnSpc>
                <a:spcPct val="132000"/>
              </a:lnSpc>
              <a:buNone/>
              <a:defRPr sz="1725" b="1" i="0">
                <a:solidFill>
                  <a:srgbClr val="15231C"/>
                </a:solidFill>
              </a:defRPr>
            </a:pPr>
            <a:r>
              <a:rPr sz="1725" b="1" i="0">
                <a:solidFill>
                  <a:srgbClr val="15231C"/>
                </a:solidFill>
              </a:rPr>
              <a:t>不做扰动仿真，估计 R、cₓ、cᵧ 的几何灵敏度。</a:t>
            </a:r>
          </a:p>
        </p:txBody>
      </p:sp>
      <p:sp>
        <p:nvSpPr>
          <p:cNvPr id="9" name="s02-divider">
            <a:extLst>
              <a:ext uri="{FF2B5EF4-FFF2-40B4-BE49-F238E27FC236}">
                <a16:creationId xmlns:a16="http://schemas.microsoft.com/office/drawing/2014/main" id="{F3A68EF1-C0F2-4CE9-9A68-EAA14B67E2EF}"/>
              </a:ext>
            </a:extLst>
          </p:cNvPr>
          <p:cNvSpPr>
            <a:spLocks noGrp="1"/>
          </p:cNvSpPr>
          <p:nvPr/>
        </p:nvSpPr>
        <p:spPr>
          <a:xfrm>
            <a:off x="5943600" y="1809750"/>
            <a:ext cx="19050" cy="3714750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10" name="s02-eq-bg">
            <a:extLst>
              <a:ext uri="{FF2B5EF4-FFF2-40B4-BE49-F238E27FC236}">
                <a16:creationId xmlns:a16="http://schemas.microsoft.com/office/drawing/2014/main" id="{52689B12-EC0D-4669-B066-D7EA4EEF0AC3}"/>
              </a:ext>
            </a:extLst>
          </p:cNvPr>
          <p:cNvSpPr>
            <a:spLocks noGrp="1"/>
          </p:cNvSpPr>
          <p:nvPr/>
        </p:nvSpPr>
        <p:spPr>
          <a:xfrm>
            <a:off x="6438900" y="1847850"/>
            <a:ext cx="4381500" cy="971550"/>
          </a:xfrm>
          <a:prstGeom prst="rect">
            <a:avLst/>
          </a:prstGeom>
          <a:solidFill>
            <a:srgbClr val="E4EAE3"/>
          </a:solidFill>
          <a:ln w="0">
            <a:solidFill>
              <a:srgbClr val="E4EAE3"/>
            </a:solidFill>
            <a:prstDash val="solid"/>
          </a:ln>
        </p:spPr>
      </p:sp>
      <p:sp>
        <p:nvSpPr>
          <p:cNvPr id="11" name="s02-eq">
            <a:extLst>
              <a:ext uri="{FF2B5EF4-FFF2-40B4-BE49-F238E27FC236}">
                <a16:creationId xmlns:a16="http://schemas.microsoft.com/office/drawing/2014/main" id="{53B5C927-0DC0-41C1-8847-E4498EDE1EC8}"/>
              </a:ext>
            </a:extLst>
          </p:cNvPr>
          <p:cNvSpPr>
            <a:spLocks noGrp="1"/>
          </p:cNvSpPr>
          <p:nvPr/>
        </p:nvSpPr>
        <p:spPr>
          <a:xfrm>
            <a:off x="6819900" y="2057400"/>
            <a:ext cx="361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2850" b="1" i="0">
                <a:solidFill>
                  <a:srgbClr val="15231C"/>
                </a:solidFill>
              </a:defRPr>
            </a:pPr>
            <a:r>
              <a:rPr sz="2850" b="1" i="0">
                <a:solidFill>
                  <a:srgbClr val="15231C"/>
                </a:solidFill>
              </a:rPr>
              <a:t>Sᵗᵒᵗ = K + M</a:t>
            </a:r>
          </a:p>
        </p:txBody>
      </p:sp>
      <p:sp>
        <p:nvSpPr>
          <p:cNvPr id="12" name="s02-b1-dot">
            <a:extLst>
              <a:ext uri="{FF2B5EF4-FFF2-40B4-BE49-F238E27FC236}">
                <a16:creationId xmlns:a16="http://schemas.microsoft.com/office/drawing/2014/main" id="{80A3519D-E59C-4CB4-B76B-F120601B6E8F}"/>
              </a:ext>
            </a:extLst>
          </p:cNvPr>
          <p:cNvSpPr>
            <a:spLocks noGrp="1"/>
          </p:cNvSpPr>
          <p:nvPr/>
        </p:nvSpPr>
        <p:spPr>
          <a:xfrm>
            <a:off x="6438900" y="3314700"/>
            <a:ext cx="66675" cy="66675"/>
          </a:xfrm>
          <a:prstGeom prst="ellipse">
            <a:avLst/>
          </a:prstGeom>
          <a:solidFill>
            <a:srgbClr val="C75B3D"/>
          </a:solidFill>
          <a:ln w="0">
            <a:solidFill>
              <a:srgbClr val="C75B3D"/>
            </a:solidFill>
            <a:prstDash val="solid"/>
          </a:ln>
        </p:spPr>
      </p:sp>
      <p:sp>
        <p:nvSpPr>
          <p:cNvPr id="13" name="s02-b1">
            <a:extLst>
              <a:ext uri="{FF2B5EF4-FFF2-40B4-BE49-F238E27FC236}">
                <a16:creationId xmlns:a16="http://schemas.microsoft.com/office/drawing/2014/main" id="{0E18255E-CC05-4844-B770-554DA0C6B539}"/>
              </a:ext>
            </a:extLst>
          </p:cNvPr>
          <p:cNvSpPr>
            <a:spLocks noGrp="1"/>
          </p:cNvSpPr>
          <p:nvPr/>
        </p:nvSpPr>
        <p:spPr>
          <a:xfrm>
            <a:off x="6667500" y="3238500"/>
            <a:ext cx="476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500" b="0" i="0">
                <a:solidFill>
                  <a:srgbClr val="15231C"/>
                </a:solidFill>
              </a:defRPr>
            </a:pPr>
            <a:r>
              <a:rPr sz="1500" b="0" i="0">
                <a:solidFill>
                  <a:srgbClr val="15231C"/>
                </a:solidFill>
              </a:rPr>
              <a:t>K：坐标变化引起的输运项，在强先验下可由单快照计算。</a:t>
            </a:r>
          </a:p>
        </p:txBody>
      </p:sp>
      <p:sp>
        <p:nvSpPr>
          <p:cNvPr id="14" name="s02-b2-dot">
            <a:extLst>
              <a:ext uri="{FF2B5EF4-FFF2-40B4-BE49-F238E27FC236}">
                <a16:creationId xmlns:a16="http://schemas.microsoft.com/office/drawing/2014/main" id="{F5D39A24-9BB6-4E14-80A0-7DB470A347C8}"/>
              </a:ext>
            </a:extLst>
          </p:cNvPr>
          <p:cNvSpPr>
            <a:spLocks noGrp="1"/>
          </p:cNvSpPr>
          <p:nvPr/>
        </p:nvSpPr>
        <p:spPr>
          <a:xfrm>
            <a:off x="6438900" y="4114800"/>
            <a:ext cx="66675" cy="66675"/>
          </a:xfrm>
          <a:prstGeom prst="ellipse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15" name="s02-b2">
            <a:extLst>
              <a:ext uri="{FF2B5EF4-FFF2-40B4-BE49-F238E27FC236}">
                <a16:creationId xmlns:a16="http://schemas.microsoft.com/office/drawing/2014/main" id="{78B57BE2-C005-408A-9DDD-06967A6DA901}"/>
              </a:ext>
            </a:extLst>
          </p:cNvPr>
          <p:cNvSpPr>
            <a:spLocks noGrp="1"/>
          </p:cNvSpPr>
          <p:nvPr/>
        </p:nvSpPr>
        <p:spPr>
          <a:xfrm>
            <a:off x="6667500" y="4038600"/>
            <a:ext cx="476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500" b="0" i="0">
                <a:solidFill>
                  <a:srgbClr val="15231C"/>
                </a:solidFill>
              </a:defRPr>
            </a:pPr>
            <a:r>
              <a:rPr sz="1500" b="0" i="0">
                <a:solidFill>
                  <a:srgbClr val="15231C"/>
                </a:solidFill>
              </a:rPr>
              <a:t>M：几何改变后流场本身的状态响应，单快照无法唯一识别。</a:t>
            </a:r>
          </a:p>
        </p:txBody>
      </p:sp>
    </p:spTree>
    <p:extLst>
      <p:ext uri="{BB962C8B-B14F-4D97-AF65-F5344CB8AC3E}">
        <p14:creationId xmlns:p14="http://schemas.microsoft.com/office/powerpoint/2010/main" val="1685892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">
            <a:extLst>
              <a:ext uri="{FF2B5EF4-FFF2-40B4-BE49-F238E27FC236}">
                <a16:creationId xmlns:a16="http://schemas.microsoft.com/office/drawing/2014/main" id="{3F760949-F5C0-425B-A75B-3D27A83A815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3000" b="1" i="0">
                <a:solidFill>
                  <a:srgbClr val="15231C"/>
                </a:solidFill>
              </a:defRPr>
            </a:pPr>
            <a:r>
              <a:rPr sz="3000" b="1" i="0">
                <a:solidFill>
                  <a:srgbClr val="15231C"/>
                </a:solidFill>
              </a:rPr>
              <a:t>缺失参数方向信息，使总灵敏度天然不可辨识</a:t>
            </a:r>
          </a:p>
        </p:txBody>
      </p:sp>
      <p:sp>
        <p:nvSpPr>
          <p:cNvPr id="3" name="title-rule-3">
            <a:extLst>
              <a:ext uri="{FF2B5EF4-FFF2-40B4-BE49-F238E27FC236}">
                <a16:creationId xmlns:a16="http://schemas.microsoft.com/office/drawing/2014/main" id="{F6D194E9-09F4-4815-9D14-91226BBC3B5D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104900" cy="38100"/>
          </a:xfrm>
          <a:prstGeom prst="rect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4" name="footer-rule-3">
            <a:extLst>
              <a:ext uri="{FF2B5EF4-FFF2-40B4-BE49-F238E27FC236}">
                <a16:creationId xmlns:a16="http://schemas.microsoft.com/office/drawing/2014/main" id="{0741FAF8-B38B-436C-84D0-CA575068BF4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6" name="footer-page-3">
            <a:extLst>
              <a:ext uri="{FF2B5EF4-FFF2-40B4-BE49-F238E27FC236}">
                <a16:creationId xmlns:a16="http://schemas.microsoft.com/office/drawing/2014/main" id="{46C1EA69-3208-4E28-A7B4-613604AB6AFE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03</a:t>
            </a:r>
          </a:p>
        </p:txBody>
      </p:sp>
      <p:sp>
        <p:nvSpPr>
          <p:cNvPr id="7" name="s03-given-label">
            <a:extLst>
              <a:ext uri="{FF2B5EF4-FFF2-40B4-BE49-F238E27FC236}">
                <a16:creationId xmlns:a16="http://schemas.microsoft.com/office/drawing/2014/main" id="{6DA58053-615F-4960-8C25-6125FA464DF1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 i="0">
                <a:solidFill>
                  <a:srgbClr val="6F786F"/>
                </a:solidFill>
              </a:defRPr>
            </a:pPr>
            <a:r>
              <a:rPr sz="1350" b="0" i="0">
                <a:solidFill>
                  <a:srgbClr val="6F786F"/>
                </a:solidFill>
              </a:rPr>
              <a:t>单个参数点只提供</a:t>
            </a:r>
          </a:p>
        </p:txBody>
      </p:sp>
      <p:sp>
        <p:nvSpPr>
          <p:cNvPr id="8" name="s03-given-bg">
            <a:extLst>
              <a:ext uri="{FF2B5EF4-FFF2-40B4-BE49-F238E27FC236}">
                <a16:creationId xmlns:a16="http://schemas.microsoft.com/office/drawing/2014/main" id="{860F3D37-E324-4048-84C2-A788ED56A4D8}"/>
              </a:ext>
            </a:extLst>
          </p:cNvPr>
          <p:cNvSpPr>
            <a:spLocks noGrp="1"/>
          </p:cNvSpPr>
          <p:nvPr/>
        </p:nvSpPr>
        <p:spPr>
          <a:xfrm>
            <a:off x="781050" y="2324100"/>
            <a:ext cx="4095750" cy="895350"/>
          </a:xfrm>
          <a:prstGeom prst="rect">
            <a:avLst/>
          </a:prstGeom>
          <a:solidFill>
            <a:srgbClr val="E4EAE3"/>
          </a:solidFill>
          <a:ln w="0">
            <a:solidFill>
              <a:srgbClr val="E4EAE3"/>
            </a:solidFill>
            <a:prstDash val="solid"/>
          </a:ln>
        </p:spPr>
      </p:sp>
      <p:sp>
        <p:nvSpPr>
          <p:cNvPr id="9" name="s03-given">
            <a:extLst>
              <a:ext uri="{FF2B5EF4-FFF2-40B4-BE49-F238E27FC236}">
                <a16:creationId xmlns:a16="http://schemas.microsoft.com/office/drawing/2014/main" id="{A34C52C2-8B2B-47C6-9940-F537752A3DEB}"/>
              </a:ext>
            </a:extLst>
          </p:cNvPr>
          <p:cNvSpPr>
            <a:spLocks noGrp="1"/>
          </p:cNvSpPr>
          <p:nvPr/>
        </p:nvSpPr>
        <p:spPr>
          <a:xfrm>
            <a:off x="971550" y="254317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2850" b="1" i="0">
                <a:solidFill>
                  <a:srgbClr val="15231C"/>
                </a:solidFill>
              </a:defRPr>
            </a:pPr>
            <a:r>
              <a:rPr sz="2850" b="1" i="0">
                <a:solidFill>
                  <a:srgbClr val="15231C"/>
                </a:solidFill>
              </a:rPr>
              <a:t>u(x; θ₀)</a:t>
            </a:r>
          </a:p>
        </p:txBody>
      </p:sp>
      <p:sp>
        <p:nvSpPr>
          <p:cNvPr id="10" name="s03-arrow">
            <a:extLst>
              <a:ext uri="{FF2B5EF4-FFF2-40B4-BE49-F238E27FC236}">
                <a16:creationId xmlns:a16="http://schemas.microsoft.com/office/drawing/2014/main" id="{F3F9F705-5FD8-4FC5-849D-0AAA3955DB85}"/>
              </a:ext>
            </a:extLst>
          </p:cNvPr>
          <p:cNvSpPr>
            <a:spLocks noGrp="1"/>
          </p:cNvSpPr>
          <p:nvPr/>
        </p:nvSpPr>
        <p:spPr>
          <a:xfrm>
            <a:off x="5181600" y="2476500"/>
            <a:ext cx="857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3900" b="1" i="0">
                <a:solidFill>
                  <a:srgbClr val="C75B3D"/>
                </a:solidFill>
              </a:defRPr>
            </a:pPr>
            <a:r>
              <a:rPr sz="3900" b="1" i="0">
                <a:solidFill>
                  <a:srgbClr val="C75B3D"/>
                </a:solidFill>
              </a:rPr>
              <a:t>↛</a:t>
            </a:r>
          </a:p>
        </p:txBody>
      </p:sp>
      <p:sp>
        <p:nvSpPr>
          <p:cNvPr id="11" name="s03-target-label">
            <a:extLst>
              <a:ext uri="{FF2B5EF4-FFF2-40B4-BE49-F238E27FC236}">
                <a16:creationId xmlns:a16="http://schemas.microsoft.com/office/drawing/2014/main" id="{061EBCA0-9B14-4E39-BCD5-A166161C9808}"/>
              </a:ext>
            </a:extLst>
          </p:cNvPr>
          <p:cNvSpPr>
            <a:spLocks noGrp="1"/>
          </p:cNvSpPr>
          <p:nvPr/>
        </p:nvSpPr>
        <p:spPr>
          <a:xfrm>
            <a:off x="6477000" y="19050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 i="0">
                <a:solidFill>
                  <a:srgbClr val="6F786F"/>
                </a:solidFill>
              </a:defRPr>
            </a:pPr>
            <a:r>
              <a:rPr sz="1350" b="0" i="0">
                <a:solidFill>
                  <a:srgbClr val="6F786F"/>
                </a:solidFill>
              </a:rPr>
              <a:t>研究目标却是</a:t>
            </a:r>
          </a:p>
        </p:txBody>
      </p:sp>
      <p:sp>
        <p:nvSpPr>
          <p:cNvPr id="12" name="s03-target-bg">
            <a:extLst>
              <a:ext uri="{FF2B5EF4-FFF2-40B4-BE49-F238E27FC236}">
                <a16:creationId xmlns:a16="http://schemas.microsoft.com/office/drawing/2014/main" id="{751F4CB3-706D-4195-BAEF-62321BF89E50}"/>
              </a:ext>
            </a:extLst>
          </p:cNvPr>
          <p:cNvSpPr>
            <a:spLocks noGrp="1"/>
          </p:cNvSpPr>
          <p:nvPr/>
        </p:nvSpPr>
        <p:spPr>
          <a:xfrm>
            <a:off x="6381750" y="2324100"/>
            <a:ext cx="4476750" cy="895350"/>
          </a:xfrm>
          <a:prstGeom prst="rect">
            <a:avLst/>
          </a:prstGeom>
          <a:solidFill>
            <a:srgbClr val="EED9D0"/>
          </a:solidFill>
          <a:ln w="0">
            <a:solidFill>
              <a:srgbClr val="EED9D0"/>
            </a:solidFill>
            <a:prstDash val="solid"/>
          </a:ln>
        </p:spPr>
      </p:sp>
      <p:sp>
        <p:nvSpPr>
          <p:cNvPr id="13" name="s03-target">
            <a:extLst>
              <a:ext uri="{FF2B5EF4-FFF2-40B4-BE49-F238E27FC236}">
                <a16:creationId xmlns:a16="http://schemas.microsoft.com/office/drawing/2014/main" id="{439385FF-7292-419F-90BA-A1D1BCB582A5}"/>
              </a:ext>
            </a:extLst>
          </p:cNvPr>
          <p:cNvSpPr>
            <a:spLocks noGrp="1"/>
          </p:cNvSpPr>
          <p:nvPr/>
        </p:nvSpPr>
        <p:spPr>
          <a:xfrm>
            <a:off x="6629400" y="2543175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2625" b="1" i="0">
                <a:solidFill>
                  <a:srgbClr val="15231C"/>
                </a:solidFill>
              </a:defRPr>
            </a:pPr>
            <a:r>
              <a:rPr sz="2625" b="1" i="0">
                <a:solidFill>
                  <a:srgbClr val="15231C"/>
                </a:solidFill>
              </a:rPr>
              <a:t>∂u/∂θ  | θ₀</a:t>
            </a:r>
          </a:p>
        </p:txBody>
      </p:sp>
      <p:sp>
        <p:nvSpPr>
          <p:cNvPr id="14" name="s03-claim">
            <a:extLst>
              <a:ext uri="{FF2B5EF4-FFF2-40B4-BE49-F238E27FC236}">
                <a16:creationId xmlns:a16="http://schemas.microsoft.com/office/drawing/2014/main" id="{C9594EC6-5BBF-49A8-B5EC-4EF28D9F7765}"/>
              </a:ext>
            </a:extLst>
          </p:cNvPr>
          <p:cNvSpPr>
            <a:spLocks noGrp="1"/>
          </p:cNvSpPr>
          <p:nvPr/>
        </p:nvSpPr>
        <p:spPr>
          <a:xfrm>
            <a:off x="1219200" y="3771900"/>
            <a:ext cx="9753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2025" b="1" i="0">
                <a:solidFill>
                  <a:srgbClr val="15231C"/>
                </a:solidFill>
              </a:defRPr>
            </a:pPr>
            <a:r>
              <a:rPr sz="2025" b="1" i="0">
                <a:solidFill>
                  <a:srgbClr val="15231C"/>
                </a:solidFill>
              </a:rPr>
              <a:t>相同快照可以对应无穷多个参数族，而这些参数族在 θ₀ 处具有不同导数。</a:t>
            </a:r>
          </a:p>
        </p:txBody>
      </p:sp>
      <p:sp>
        <p:nvSpPr>
          <p:cNvPr id="15" name="s03-rule">
            <a:extLst>
              <a:ext uri="{FF2B5EF4-FFF2-40B4-BE49-F238E27FC236}">
                <a16:creationId xmlns:a16="http://schemas.microsoft.com/office/drawing/2014/main" id="{624E951B-102A-402C-BB27-DB749818AF33}"/>
              </a:ext>
            </a:extLst>
          </p:cNvPr>
          <p:cNvSpPr>
            <a:spLocks noGrp="1"/>
          </p:cNvSpPr>
          <p:nvPr/>
        </p:nvSpPr>
        <p:spPr>
          <a:xfrm>
            <a:off x="1924050" y="4591050"/>
            <a:ext cx="8343900" cy="9525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16" name="s03-note">
            <a:extLst>
              <a:ext uri="{FF2B5EF4-FFF2-40B4-BE49-F238E27FC236}">
                <a16:creationId xmlns:a16="http://schemas.microsoft.com/office/drawing/2014/main" id="{2EDC3114-06FD-4D48-91F0-1DF4CEF44337}"/>
              </a:ext>
            </a:extLst>
          </p:cNvPr>
          <p:cNvSpPr>
            <a:spLocks noGrp="1"/>
          </p:cNvSpPr>
          <p:nvPr/>
        </p:nvSpPr>
        <p:spPr>
          <a:xfrm>
            <a:off x="1543050" y="4914900"/>
            <a:ext cx="9105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38000"/>
              </a:lnSpc>
              <a:buNone/>
              <a:defRPr sz="1575" b="0" i="0">
                <a:solidFill>
                  <a:srgbClr val="6F786F"/>
                </a:solidFill>
              </a:defRPr>
            </a:pPr>
            <a:r>
              <a:rPr sz="1575" b="0" i="0">
                <a:solidFill>
                  <a:srgbClr val="6F786F"/>
                </a:solidFill>
              </a:rPr>
              <a:t>因此，符号回归、MLP、GP 等纯快照回归都受同一信息边界限制。</a:t>
            </a:r>
          </a:p>
          <a:p>
            <a:pPr algn="ctr">
              <a:lnSpc>
                <a:spcPct val="138000"/>
              </a:lnSpc>
              <a:buNone/>
              <a:defRPr sz="1575" b="0" i="0">
                <a:solidFill>
                  <a:srgbClr val="6F786F"/>
                </a:solidFill>
              </a:defRPr>
            </a:pPr>
            <a:r>
              <a:rPr sz="1575" b="0" i="0">
                <a:solidFill>
                  <a:srgbClr val="6F786F"/>
                </a:solidFill>
              </a:rPr>
              <a:t>只有引入 u(x;θ) ≈ u₀(Tθ⁻¹x) 等强先验，才能关联出部分几何灵敏度。</a:t>
            </a:r>
          </a:p>
        </p:txBody>
      </p:sp>
    </p:spTree>
    <p:extLst>
      <p:ext uri="{BB962C8B-B14F-4D97-AF65-F5344CB8AC3E}">
        <p14:creationId xmlns:p14="http://schemas.microsoft.com/office/powerpoint/2010/main" val="1017700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kicker-4">
            <a:extLst>
              <a:ext uri="{FF2B5EF4-FFF2-40B4-BE49-F238E27FC236}">
                <a16:creationId xmlns:a16="http://schemas.microsoft.com/office/drawing/2014/main" id="{D81F889F-4BB0-4F55-9540-32EDA6A3AEF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050" b="1" i="0">
                <a:solidFill>
                  <a:srgbClr val="C75B3D"/>
                </a:solidFill>
              </a:defRPr>
            </a:pPr>
            <a:r>
              <a:rPr sz="1050" b="1" i="0">
                <a:solidFill>
                  <a:srgbClr val="C75B3D"/>
                </a:solidFill>
              </a:rPr>
              <a:t>DECOMPOSITION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B806E430-497C-4E29-9EA0-865DD797AC8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3000" b="1" i="0">
                <a:solidFill>
                  <a:srgbClr val="15231C"/>
                </a:solidFill>
              </a:defRPr>
            </a:pPr>
            <a:r>
              <a:rPr sz="3000" b="1" i="0">
                <a:solidFill>
                  <a:srgbClr val="15231C"/>
                </a:solidFill>
              </a:rPr>
              <a:t>总灵敏度包含坐标输运与真实状态响应</a:t>
            </a: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36343D73-DB2F-43B4-BBE3-F3451D73376A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104900" cy="38100"/>
          </a:xfrm>
          <a:prstGeom prst="rect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4" name="footer-rule-4">
            <a:extLst>
              <a:ext uri="{FF2B5EF4-FFF2-40B4-BE49-F238E27FC236}">
                <a16:creationId xmlns:a16="http://schemas.microsoft.com/office/drawing/2014/main" id="{F6ED519E-3E4F-435D-BC8F-55663C5A2AC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5" name="footer-section-4">
            <a:extLst>
              <a:ext uri="{FF2B5EF4-FFF2-40B4-BE49-F238E27FC236}">
                <a16:creationId xmlns:a16="http://schemas.microsoft.com/office/drawing/2014/main" id="{06F932C5-B396-4C9D-97E8-1D91C5F56A8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灵敏度分解</a:t>
            </a:r>
          </a:p>
        </p:txBody>
      </p:sp>
      <p:sp>
        <p:nvSpPr>
          <p:cNvPr id="6" name="footer-page-4">
            <a:extLst>
              <a:ext uri="{FF2B5EF4-FFF2-40B4-BE49-F238E27FC236}">
                <a16:creationId xmlns:a16="http://schemas.microsoft.com/office/drawing/2014/main" id="{5B5D382C-2C3D-452A-9ED9-1FC4672B970C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04</a:t>
            </a:r>
          </a:p>
        </p:txBody>
      </p:sp>
      <p:sp>
        <p:nvSpPr>
          <p:cNvPr id="7" name="s04-eq-bg">
            <a:extLst>
              <a:ext uri="{FF2B5EF4-FFF2-40B4-BE49-F238E27FC236}">
                <a16:creationId xmlns:a16="http://schemas.microsoft.com/office/drawing/2014/main" id="{91E27D35-6170-4161-9167-6740C8B09E9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371850" cy="685800"/>
          </a:xfrm>
          <a:prstGeom prst="rect">
            <a:avLst/>
          </a:prstGeom>
          <a:solidFill>
            <a:srgbClr val="E4EAE3"/>
          </a:solidFill>
          <a:ln w="0">
            <a:solidFill>
              <a:srgbClr val="E4EAE3"/>
            </a:solidFill>
            <a:prstDash val="solid"/>
          </a:ln>
        </p:spPr>
      </p:sp>
      <p:sp>
        <p:nvSpPr>
          <p:cNvPr id="8" name="s04-eq">
            <a:extLst>
              <a:ext uri="{FF2B5EF4-FFF2-40B4-BE49-F238E27FC236}">
                <a16:creationId xmlns:a16="http://schemas.microsoft.com/office/drawing/2014/main" id="{48DEE1A0-F703-4977-9E1E-D0C8AAAC024D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2325" b="1" i="0">
                <a:solidFill>
                  <a:srgbClr val="15231C"/>
                </a:solidFill>
              </a:defRPr>
            </a:pPr>
            <a:r>
              <a:rPr sz="2325" b="1" i="0">
                <a:solidFill>
                  <a:srgbClr val="15231C"/>
                </a:solidFill>
              </a:rPr>
              <a:t>Sᵗᵒᵗ = K + M</a:t>
            </a:r>
          </a:p>
        </p:txBody>
      </p:sp>
      <p:sp>
        <p:nvSpPr>
          <p:cNvPr id="9" name="s04-def-k">
            <a:extLst>
              <a:ext uri="{FF2B5EF4-FFF2-40B4-BE49-F238E27FC236}">
                <a16:creationId xmlns:a16="http://schemas.microsoft.com/office/drawing/2014/main" id="{84A6BAF9-5C4B-4751-B49D-0DBE694AA0E5}"/>
              </a:ext>
            </a:extLst>
          </p:cNvPr>
          <p:cNvSpPr>
            <a:spLocks noGrp="1"/>
          </p:cNvSpPr>
          <p:nvPr/>
        </p:nvSpPr>
        <p:spPr>
          <a:xfrm>
            <a:off x="4476750" y="17526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1" i="0">
                <a:solidFill>
                  <a:srgbClr val="1F5A49"/>
                </a:solidFill>
              </a:defRPr>
            </a:pPr>
            <a:r>
              <a:rPr sz="1425" b="1" i="0">
                <a:solidFill>
                  <a:srgbClr val="1F5A49"/>
                </a:solidFill>
              </a:rPr>
              <a:t>K  坐标移动造成的“输运变化”</a:t>
            </a:r>
          </a:p>
        </p:txBody>
      </p:sp>
      <p:sp>
        <p:nvSpPr>
          <p:cNvPr id="10" name="s04-def-m">
            <a:extLst>
              <a:ext uri="{FF2B5EF4-FFF2-40B4-BE49-F238E27FC236}">
                <a16:creationId xmlns:a16="http://schemas.microsoft.com/office/drawing/2014/main" id="{9010C4CD-7668-4F43-AFA2-4753A590D60E}"/>
              </a:ext>
            </a:extLst>
          </p:cNvPr>
          <p:cNvSpPr>
            <a:spLocks noGrp="1"/>
          </p:cNvSpPr>
          <p:nvPr/>
        </p:nvSpPr>
        <p:spPr>
          <a:xfrm>
            <a:off x="4476750" y="21145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1" i="0">
                <a:solidFill>
                  <a:srgbClr val="C75B3D"/>
                </a:solidFill>
              </a:defRPr>
            </a:pPr>
            <a:r>
              <a:rPr sz="1425" b="1" i="0">
                <a:solidFill>
                  <a:srgbClr val="C75B3D"/>
                </a:solidFill>
              </a:rPr>
              <a:t>M  几何改变后的真实流场响应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017C7AE-F12A-6FE6-B2AC-D1AF4BC38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628635"/>
              </p:ext>
            </p:extLst>
          </p:nvPr>
        </p:nvGraphicFramePr>
        <p:xfrm>
          <a:off x="615647" y="2994661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370613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295453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分量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量级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159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总灵敏度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13.98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098841"/>
                  </a:ext>
                </a:extLst>
              </a:tr>
              <a:tr h="130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坐标输运项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38.17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2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状态响应项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27.05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10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434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0">
            <a:extLst>
              <a:ext uri="{FF2B5EF4-FFF2-40B4-BE49-F238E27FC236}">
                <a16:creationId xmlns:a16="http://schemas.microsoft.com/office/drawing/2014/main" id="{092FA4C6-6BBB-4F74-B607-92BE3DA682C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2850" b="1" i="0">
                <a:solidFill>
                  <a:srgbClr val="15231C"/>
                </a:solidFill>
              </a:defRPr>
            </a:pPr>
            <a:r>
              <a:rPr sz="2850" b="1" i="0">
                <a:solidFill>
                  <a:srgbClr val="15231C"/>
                </a:solidFill>
              </a:rPr>
              <a:t>单圆柱可以闭合，多圆柱只能覆盖整体相似变换</a:t>
            </a:r>
          </a:p>
        </p:txBody>
      </p:sp>
      <p:sp>
        <p:nvSpPr>
          <p:cNvPr id="3" name="title-rule-10">
            <a:extLst>
              <a:ext uri="{FF2B5EF4-FFF2-40B4-BE49-F238E27FC236}">
                <a16:creationId xmlns:a16="http://schemas.microsoft.com/office/drawing/2014/main" id="{7026BFCE-1D2E-4282-85D1-56DAC70B8A8B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104900" cy="38100"/>
          </a:xfrm>
          <a:prstGeom prst="rect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4" name="footer-rule-10">
            <a:extLst>
              <a:ext uri="{FF2B5EF4-FFF2-40B4-BE49-F238E27FC236}">
                <a16:creationId xmlns:a16="http://schemas.microsoft.com/office/drawing/2014/main" id="{A22A577D-09C6-4110-B1B1-CB816B6E1DC0}"/>
              </a:ext>
            </a:extLst>
          </p:cNvPr>
          <p:cNvSpPr>
            <a:spLocks noGrp="1"/>
          </p:cNvSpPr>
          <p:nvPr/>
        </p:nvSpPr>
        <p:spPr>
          <a:xfrm>
            <a:off x="704850" y="6662737"/>
            <a:ext cx="10820400" cy="9525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6" name="footer-page-10">
            <a:extLst>
              <a:ext uri="{FF2B5EF4-FFF2-40B4-BE49-F238E27FC236}">
                <a16:creationId xmlns:a16="http://schemas.microsoft.com/office/drawing/2014/main" id="{3DB79CB3-1293-4037-A6BA-0D27269B8559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10</a:t>
            </a:r>
          </a:p>
        </p:txBody>
      </p:sp>
      <p:sp>
        <p:nvSpPr>
          <p:cNvPr id="7" name="s10-nine-value">
            <a:extLst>
              <a:ext uri="{FF2B5EF4-FFF2-40B4-BE49-F238E27FC236}">
                <a16:creationId xmlns:a16="http://schemas.microsoft.com/office/drawing/2014/main" id="{49796827-C5AF-419B-BE90-7138B1134842}"/>
              </a:ext>
            </a:extLst>
          </p:cNvPr>
          <p:cNvSpPr>
            <a:spLocks noGrp="1"/>
          </p:cNvSpPr>
          <p:nvPr/>
        </p:nvSpPr>
        <p:spPr>
          <a:xfrm>
            <a:off x="628650" y="1228725"/>
            <a:ext cx="2381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6600" b="1" i="0">
                <a:solidFill>
                  <a:srgbClr val="C75B3D"/>
                </a:solidFill>
              </a:defRPr>
            </a:pPr>
            <a:r>
              <a:rPr sz="6600" b="1" i="0">
                <a:solidFill>
                  <a:srgbClr val="C75B3D"/>
                </a:solidFill>
              </a:rPr>
              <a:t>9</a:t>
            </a:r>
          </a:p>
        </p:txBody>
      </p:sp>
      <p:sp>
        <p:nvSpPr>
          <p:cNvPr id="8" name="s10-nine-label">
            <a:extLst>
              <a:ext uri="{FF2B5EF4-FFF2-40B4-BE49-F238E27FC236}">
                <a16:creationId xmlns:a16="http://schemas.microsoft.com/office/drawing/2014/main" id="{A3CB2227-1C28-43FA-8B2C-0A066EFB3902}"/>
              </a:ext>
            </a:extLst>
          </p:cNvPr>
          <p:cNvSpPr>
            <a:spLocks noGrp="1"/>
          </p:cNvSpPr>
          <p:nvPr/>
        </p:nvSpPr>
        <p:spPr>
          <a:xfrm>
            <a:off x="666750" y="2257425"/>
            <a:ext cx="2305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5231C"/>
                </a:solidFill>
              </a:defRPr>
            </a:pPr>
            <a:r>
              <a:rPr sz="1350" b="1" i="0">
                <a:solidFill>
                  <a:srgbClr val="15231C"/>
                </a:solidFill>
              </a:rPr>
              <a:t>三圆柱局部几何参数</a:t>
            </a:r>
          </a:p>
        </p:txBody>
      </p:sp>
      <p:sp>
        <p:nvSpPr>
          <p:cNvPr id="9" name="s10-versus">
            <a:extLst>
              <a:ext uri="{FF2B5EF4-FFF2-40B4-BE49-F238E27FC236}">
                <a16:creationId xmlns:a16="http://schemas.microsoft.com/office/drawing/2014/main" id="{BAAB0BE4-039C-42E1-8301-EC06DFE30029}"/>
              </a:ext>
            </a:extLst>
          </p:cNvPr>
          <p:cNvSpPr>
            <a:spLocks noGrp="1"/>
          </p:cNvSpPr>
          <p:nvPr/>
        </p:nvSpPr>
        <p:spPr>
          <a:xfrm>
            <a:off x="3162300" y="1590675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2100" b="1" i="0">
                <a:solidFill>
                  <a:srgbClr val="6F786F"/>
                </a:solidFill>
              </a:defRPr>
            </a:pPr>
            <a:r>
              <a:rPr sz="2100" b="1" i="0">
                <a:solidFill>
                  <a:srgbClr val="6F786F"/>
                </a:solidFill>
              </a:rPr>
              <a:t>vs</a:t>
            </a:r>
          </a:p>
        </p:txBody>
      </p:sp>
      <p:sp>
        <p:nvSpPr>
          <p:cNvPr id="10" name="s10-four-value">
            <a:extLst>
              <a:ext uri="{FF2B5EF4-FFF2-40B4-BE49-F238E27FC236}">
                <a16:creationId xmlns:a16="http://schemas.microsoft.com/office/drawing/2014/main" id="{9F293234-BB64-4688-BAEB-0F17BFB5643B}"/>
              </a:ext>
            </a:extLst>
          </p:cNvPr>
          <p:cNvSpPr>
            <a:spLocks noGrp="1"/>
          </p:cNvSpPr>
          <p:nvPr/>
        </p:nvSpPr>
        <p:spPr>
          <a:xfrm>
            <a:off x="3981450" y="1228725"/>
            <a:ext cx="2667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6600" b="1" i="0">
                <a:solidFill>
                  <a:srgbClr val="1F5A49"/>
                </a:solidFill>
              </a:defRPr>
            </a:pPr>
            <a:r>
              <a:rPr sz="6600" b="1" i="0">
                <a:solidFill>
                  <a:srgbClr val="1F5A49"/>
                </a:solidFill>
              </a:rPr>
              <a:t>4</a:t>
            </a:r>
          </a:p>
        </p:txBody>
      </p:sp>
      <p:sp>
        <p:nvSpPr>
          <p:cNvPr id="11" name="s10-four-label">
            <a:extLst>
              <a:ext uri="{FF2B5EF4-FFF2-40B4-BE49-F238E27FC236}">
                <a16:creationId xmlns:a16="http://schemas.microsoft.com/office/drawing/2014/main" id="{1D6568E9-C873-4D72-AE08-E11A662A1E87}"/>
              </a:ext>
            </a:extLst>
          </p:cNvPr>
          <p:cNvSpPr>
            <a:spLocks noGrp="1"/>
          </p:cNvSpPr>
          <p:nvPr/>
        </p:nvSpPr>
        <p:spPr>
          <a:xfrm>
            <a:off x="4019550" y="2257425"/>
            <a:ext cx="2590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5231C"/>
                </a:solidFill>
              </a:defRPr>
            </a:pPr>
            <a:r>
              <a:rPr sz="1350" b="1" i="0" dirty="0" err="1">
                <a:solidFill>
                  <a:srgbClr val="15231C"/>
                </a:solidFill>
              </a:rPr>
              <a:t>二维相似变换自由度</a:t>
            </a:r>
            <a:endParaRPr sz="1350" b="1" i="0" dirty="0">
              <a:solidFill>
                <a:srgbClr val="15231C"/>
              </a:solidFill>
            </a:endParaRPr>
          </a:p>
        </p:txBody>
      </p:sp>
      <p:sp>
        <p:nvSpPr>
          <p:cNvPr id="12" name="s10-divider">
            <a:extLst>
              <a:ext uri="{FF2B5EF4-FFF2-40B4-BE49-F238E27FC236}">
                <a16:creationId xmlns:a16="http://schemas.microsoft.com/office/drawing/2014/main" id="{8BFA0B44-33A8-4BA4-9C70-AB9187438947}"/>
              </a:ext>
            </a:extLst>
          </p:cNvPr>
          <p:cNvSpPr>
            <a:spLocks noGrp="1"/>
          </p:cNvSpPr>
          <p:nvPr/>
        </p:nvSpPr>
        <p:spPr>
          <a:xfrm>
            <a:off x="7067550" y="1790700"/>
            <a:ext cx="19050" cy="4057650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13" name="s10-can">
            <a:extLst>
              <a:ext uri="{FF2B5EF4-FFF2-40B4-BE49-F238E27FC236}">
                <a16:creationId xmlns:a16="http://schemas.microsoft.com/office/drawing/2014/main" id="{425C7B1F-88C7-44AD-9C8E-0D576CA5C0DD}"/>
              </a:ext>
            </a:extLst>
          </p:cNvPr>
          <p:cNvSpPr>
            <a:spLocks noGrp="1"/>
          </p:cNvSpPr>
          <p:nvPr/>
        </p:nvSpPr>
        <p:spPr>
          <a:xfrm>
            <a:off x="7505700" y="1866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1" i="0">
                <a:solidFill>
                  <a:srgbClr val="1F5A49"/>
                </a:solidFill>
              </a:defRPr>
            </a:pPr>
            <a:r>
              <a:rPr sz="1425" b="1" i="0">
                <a:solidFill>
                  <a:srgbClr val="1F5A49"/>
                </a:solidFill>
              </a:rPr>
              <a:t>单快照可恢复</a:t>
            </a:r>
          </a:p>
        </p:txBody>
      </p:sp>
      <p:sp>
        <p:nvSpPr>
          <p:cNvPr id="14" name="s10-can1-dot">
            <a:extLst>
              <a:ext uri="{FF2B5EF4-FFF2-40B4-BE49-F238E27FC236}">
                <a16:creationId xmlns:a16="http://schemas.microsoft.com/office/drawing/2014/main" id="{1E8BB7FA-F1CA-4DB1-93F7-82479EE23D6E}"/>
              </a:ext>
            </a:extLst>
          </p:cNvPr>
          <p:cNvSpPr>
            <a:spLocks noGrp="1"/>
          </p:cNvSpPr>
          <p:nvPr/>
        </p:nvSpPr>
        <p:spPr>
          <a:xfrm>
            <a:off x="7524750" y="2419350"/>
            <a:ext cx="66675" cy="66675"/>
          </a:xfrm>
          <a:prstGeom prst="ellipse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15" name="s10-can1">
            <a:extLst>
              <a:ext uri="{FF2B5EF4-FFF2-40B4-BE49-F238E27FC236}">
                <a16:creationId xmlns:a16="http://schemas.microsoft.com/office/drawing/2014/main" id="{F636AA92-4863-4847-8654-9853358C852D}"/>
              </a:ext>
            </a:extLst>
          </p:cNvPr>
          <p:cNvSpPr>
            <a:spLocks noGrp="1"/>
          </p:cNvSpPr>
          <p:nvPr/>
        </p:nvSpPr>
        <p:spPr>
          <a:xfrm>
            <a:off x="7753350" y="234315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500" b="0" i="0">
                <a:solidFill>
                  <a:srgbClr val="15231C"/>
                </a:solidFill>
              </a:defRPr>
            </a:pPr>
            <a:r>
              <a:rPr sz="1500" b="0" i="0">
                <a:solidFill>
                  <a:srgbClr val="15231C"/>
                </a:solidFill>
              </a:rPr>
              <a:t>整体平移（2 个方向）</a:t>
            </a:r>
          </a:p>
        </p:txBody>
      </p:sp>
      <p:sp>
        <p:nvSpPr>
          <p:cNvPr id="16" name="s10-can2-dot">
            <a:extLst>
              <a:ext uri="{FF2B5EF4-FFF2-40B4-BE49-F238E27FC236}">
                <a16:creationId xmlns:a16="http://schemas.microsoft.com/office/drawing/2014/main" id="{BB0057CB-F745-4FE2-89EA-D494C36197D4}"/>
              </a:ext>
            </a:extLst>
          </p:cNvPr>
          <p:cNvSpPr>
            <a:spLocks noGrp="1"/>
          </p:cNvSpPr>
          <p:nvPr/>
        </p:nvSpPr>
        <p:spPr>
          <a:xfrm>
            <a:off x="7524750" y="2914650"/>
            <a:ext cx="66675" cy="66675"/>
          </a:xfrm>
          <a:prstGeom prst="ellipse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17" name="s10-can2">
            <a:extLst>
              <a:ext uri="{FF2B5EF4-FFF2-40B4-BE49-F238E27FC236}">
                <a16:creationId xmlns:a16="http://schemas.microsoft.com/office/drawing/2014/main" id="{9E5487E4-A2BE-43E2-A65D-C19BB2C97FD1}"/>
              </a:ext>
            </a:extLst>
          </p:cNvPr>
          <p:cNvSpPr>
            <a:spLocks noGrp="1"/>
          </p:cNvSpPr>
          <p:nvPr/>
        </p:nvSpPr>
        <p:spPr>
          <a:xfrm>
            <a:off x="7753350" y="283845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500" b="0" i="0">
                <a:solidFill>
                  <a:srgbClr val="15231C"/>
                </a:solidFill>
              </a:defRPr>
            </a:pPr>
            <a:r>
              <a:rPr sz="1500" b="0" i="0">
                <a:solidFill>
                  <a:srgbClr val="15231C"/>
                </a:solidFill>
              </a:rPr>
              <a:t>整体缩放</a:t>
            </a:r>
          </a:p>
        </p:txBody>
      </p:sp>
      <p:sp>
        <p:nvSpPr>
          <p:cNvPr id="18" name="s10-can3-dot">
            <a:extLst>
              <a:ext uri="{FF2B5EF4-FFF2-40B4-BE49-F238E27FC236}">
                <a16:creationId xmlns:a16="http://schemas.microsoft.com/office/drawing/2014/main" id="{CE710715-1C72-42C7-A3BC-3D0C98F8637F}"/>
              </a:ext>
            </a:extLst>
          </p:cNvPr>
          <p:cNvSpPr>
            <a:spLocks noGrp="1"/>
          </p:cNvSpPr>
          <p:nvPr/>
        </p:nvSpPr>
        <p:spPr>
          <a:xfrm>
            <a:off x="7524750" y="3409950"/>
            <a:ext cx="66675" cy="66675"/>
          </a:xfrm>
          <a:prstGeom prst="ellipse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19" name="s10-can3">
            <a:extLst>
              <a:ext uri="{FF2B5EF4-FFF2-40B4-BE49-F238E27FC236}">
                <a16:creationId xmlns:a16="http://schemas.microsoft.com/office/drawing/2014/main" id="{258170D4-81EA-4883-B4AC-9DC4FE044FEE}"/>
              </a:ext>
            </a:extLst>
          </p:cNvPr>
          <p:cNvSpPr>
            <a:spLocks noGrp="1"/>
          </p:cNvSpPr>
          <p:nvPr/>
        </p:nvSpPr>
        <p:spPr>
          <a:xfrm>
            <a:off x="7753350" y="333375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500" b="0" i="0">
                <a:solidFill>
                  <a:srgbClr val="15231C"/>
                </a:solidFill>
              </a:defRPr>
            </a:pPr>
            <a:r>
              <a:rPr sz="1500" b="0" i="0">
                <a:solidFill>
                  <a:srgbClr val="15231C"/>
                </a:solidFill>
              </a:rPr>
              <a:t>整体旋转</a:t>
            </a:r>
          </a:p>
        </p:txBody>
      </p:sp>
      <p:sp>
        <p:nvSpPr>
          <p:cNvPr id="20" name="s10-cannot">
            <a:extLst>
              <a:ext uri="{FF2B5EF4-FFF2-40B4-BE49-F238E27FC236}">
                <a16:creationId xmlns:a16="http://schemas.microsoft.com/office/drawing/2014/main" id="{6FD7C1BF-C55E-4FF8-8FAB-EEBF9637009C}"/>
              </a:ext>
            </a:extLst>
          </p:cNvPr>
          <p:cNvSpPr>
            <a:spLocks noGrp="1"/>
          </p:cNvSpPr>
          <p:nvPr/>
        </p:nvSpPr>
        <p:spPr>
          <a:xfrm>
            <a:off x="7505700" y="40386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1" i="0">
                <a:solidFill>
                  <a:srgbClr val="C75B3D"/>
                </a:solidFill>
              </a:defRPr>
            </a:pPr>
            <a:r>
              <a:rPr sz="1425" b="1" i="0">
                <a:solidFill>
                  <a:srgbClr val="C75B3D"/>
                </a:solidFill>
              </a:rPr>
              <a:t>需要 M 或参数方向数据</a:t>
            </a:r>
          </a:p>
        </p:txBody>
      </p:sp>
      <p:sp>
        <p:nvSpPr>
          <p:cNvPr id="21" name="s10-cannot-copy">
            <a:extLst>
              <a:ext uri="{FF2B5EF4-FFF2-40B4-BE49-F238E27FC236}">
                <a16:creationId xmlns:a16="http://schemas.microsoft.com/office/drawing/2014/main" id="{FA092AA4-D161-4B67-90EB-A07B2679A1B2}"/>
              </a:ext>
            </a:extLst>
          </p:cNvPr>
          <p:cNvSpPr>
            <a:spLocks noGrp="1"/>
          </p:cNvSpPr>
          <p:nvPr/>
        </p:nvSpPr>
        <p:spPr>
          <a:xfrm>
            <a:off x="7524750" y="4457700"/>
            <a:ext cx="371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5000"/>
              </a:lnSpc>
              <a:buNone/>
              <a:defRPr sz="1575" b="1" i="0">
                <a:solidFill>
                  <a:srgbClr val="15231C"/>
                </a:solidFill>
              </a:defRPr>
            </a:pPr>
            <a:r>
              <a:rPr sz="1575" b="1" i="0">
                <a:solidFill>
                  <a:srgbClr val="15231C"/>
                </a:solidFill>
              </a:rPr>
              <a:t>半径差 · 间距比 · 错列角</a:t>
            </a:r>
          </a:p>
          <a:p>
            <a:pPr algn="l">
              <a:lnSpc>
                <a:spcPct val="135000"/>
              </a:lnSpc>
              <a:buNone/>
              <a:defRPr sz="1575" b="1" i="0">
                <a:solidFill>
                  <a:srgbClr val="15231C"/>
                </a:solidFill>
              </a:defRPr>
            </a:pPr>
            <a:r>
              <a:rPr sz="1575" b="1" i="0">
                <a:solidFill>
                  <a:srgbClr val="15231C"/>
                </a:solidFill>
              </a:rPr>
              <a:t>以及引起流动模式切换的局部参数</a:t>
            </a:r>
          </a:p>
        </p:txBody>
      </p:sp>
      <p:sp>
        <p:nvSpPr>
          <p:cNvPr id="22" name="s10-note">
            <a:extLst>
              <a:ext uri="{FF2B5EF4-FFF2-40B4-BE49-F238E27FC236}">
                <a16:creationId xmlns:a16="http://schemas.microsoft.com/office/drawing/2014/main" id="{4784BA27-4444-402F-BFE7-766A15529F9D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561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650" b="1" i="0">
                <a:solidFill>
                  <a:srgbClr val="15231C"/>
                </a:solidFill>
              </a:defRPr>
            </a:pPr>
            <a:r>
              <a:rPr sz="1650" b="1" i="0" dirty="0" err="1">
                <a:solidFill>
                  <a:srgbClr val="15231C"/>
                </a:solidFill>
              </a:rPr>
              <a:t>多圆柱问题必须先区分“整体构型参数”与“局部干扰参数</a:t>
            </a:r>
            <a:r>
              <a:rPr sz="1650" b="1" i="0" dirty="0">
                <a:solidFill>
                  <a:srgbClr val="15231C"/>
                </a:solidFill>
              </a:rPr>
              <a:t>”。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1A838BB-5DA9-478C-DAA1-50F34BDA9BEC}"/>
                  </a:ext>
                </a:extLst>
              </p:cNvPr>
              <p:cNvSpPr txBox="1"/>
              <p:nvPr/>
            </p:nvSpPr>
            <p:spPr>
              <a:xfrm>
                <a:off x="666750" y="3226872"/>
                <a:ext cx="6491807" cy="3031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zh-CN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acc>
                            <m:accPr>
                              <m:chr m:val="˜"/>
                              <m:ctrlPr>
                                <a:rPr lang="zh-CN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zh-CN" sz="1400" i="1" dirty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  <m:d>
                            <m:dPr>
                              <m:ctrlPr>
                                <a:rPr lang="zh-CN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sz="1400" i="1" dirty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r>
                                <a:rPr lang="zh-CN" altLang="zh-CN" sz="1400" i="0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zh-CN" sz="1400" i="1" dirty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zh-CN" altLang="zh-CN" sz="1400" i="0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zh-CN" altLang="zh-CN" sz="1400" b="1" i="1" dirty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  <m:r>
                            <a:rPr lang="zh-CN" altLang="zh-CN" sz="1400" b="0" i="0" dirty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1400" b="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1400" b="0" i="1" dirty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zh-CN" altLang="zh-CN" sz="1400" b="0" i="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sz="1400" b="0" i="1" dirty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r>
                                <a:rPr lang="zh-CN" altLang="zh-CN" sz="1400" b="0" i="0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zh-CN" sz="1400" b="0" i="1" dirty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r>
                            <a:rPr lang="zh-CN" altLang="zh-CN" sz="1400" b="0" i="0" dirty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1400" b="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zh-CN" sz="1400" b="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zh-CN" sz="1400" b="0" i="0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zh-CN" sz="1400" b="0" i="0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14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zh-CN" sz="1400" b="0" i="0" dirty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  <m:r>
                                        <a:rPr lang="zh-CN" altLang="zh-CN" sz="1400" b="0" i="0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</m:d>
                                  <m:r>
                                    <a:rPr lang="zh-CN" altLang="zh-CN" sz="1400" b="0" i="0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zh-CN" sz="1400" b="0" i="0" dirty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  <m:r>
                                        <a:rPr lang="zh-CN" altLang="zh-CN" sz="1400" b="0" i="0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</m:d>
                                  <m:r>
                                    <a:rPr lang="zh-CN" altLang="zh-CN" sz="1400" b="0" i="0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zh-CN" sz="1400" b="0" i="0" dirty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CN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  <m:r>
                                        <a:rPr lang="zh-CN" altLang="zh-CN" sz="1400" b="0" i="0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zh-CN" sz="1400" b="0" i="1" dirty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borderBox>
                    </m:oMath>
                  </m:oMathPara>
                </a14:m>
                <a:endParaRPr lang="zh-CN" altLang="zh-CN" sz="1400" b="0" dirty="0"/>
              </a:p>
              <a:p>
                <a:r>
                  <a:rPr lang="zh-CN" altLang="zh-CN" sz="1400" dirty="0"/>
                  <a:t>也就是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˜"/>
                          <m:ctrlPr>
                            <a:rPr lang="zh-CN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zh-CN" sz="1400" i="1" dirty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zh-CN" altLang="zh-CN" sz="1400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sz="1400" i="1" dirty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zh-CN" sz="14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zh-CN" sz="1400" i="0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zh-CN" sz="1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zh-CN" sz="1400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zh-CN" sz="1400" i="0" dirty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1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zh-CN" sz="14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zh-CN" sz="1400" i="0" dirty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zh-CN" altLang="zh-CN" sz="1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zh-CN" sz="1400" i="0" dirty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zh-CN" sz="1400" dirty="0"/>
              </a:p>
              <a:p>
                <a:r>
                  <a:rPr lang="zh-CN" altLang="zh-CN" sz="1400" dirty="0"/>
                  <a:t>这里：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400" i="1" dirty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zh-CN" altLang="zh-CN" sz="1400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sz="1400" dirty="0"/>
                  <a:t>：基准三圆柱流场；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zh-CN" sz="1400" dirty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sSub>
                          <m:sSubPr>
                            <m:ctrlPr>
                              <a:rPr lang="zh-CN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sz="14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zh-CN" sz="1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zh-CN" sz="1400" dirty="0"/>
                  <a:t>：第</a:t>
                </a:r>
                <a14:m>
                  <m:oMath xmlns:m="http://schemas.openxmlformats.org/officeDocument/2006/math">
                    <m:r>
                      <a:rPr lang="zh-CN" altLang="zh-CN" sz="1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zh-CN" sz="1400" dirty="0"/>
                  <a:t>个圆柱半径变化的响应流函数；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zh-CN" sz="1400" dirty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sSub>
                          <m:sSubPr>
                            <m:ctrlPr>
                              <a:rPr lang="zh-CN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zh-CN" sz="1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zh-CN" altLang="zh-CN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zh-CN" sz="1400" i="1" dirty="0"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zh-CN" altLang="zh-CN" sz="140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zh-CN" sz="1400" i="1" dirty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</m:d>
                    <m:r>
                      <a:rPr lang="zh-CN" altLang="zh-CN" sz="1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1400" dirty="0"/>
                  <a:t>：第 </a:t>
                </a:r>
                <a14:m>
                  <m:oMath xmlns:m="http://schemas.openxmlformats.org/officeDocument/2006/math">
                    <m:r>
                      <a:rPr lang="zh-CN" altLang="zh-CN" sz="1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zh-CN" sz="1400" dirty="0"/>
                  <a:t>个圆柱平移的响应流函数；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400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zh-CN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400" dirty="0"/>
                  <a:t>：无量纲参数扰动。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1A838BB-5DA9-478C-DAA1-50F34BDA9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3226872"/>
                <a:ext cx="6491807" cy="3031599"/>
              </a:xfrm>
              <a:prstGeom prst="rect">
                <a:avLst/>
              </a:prstGeom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537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">
            <a:extLst>
              <a:ext uri="{FF2B5EF4-FFF2-40B4-BE49-F238E27FC236}">
                <a16:creationId xmlns:a16="http://schemas.microsoft.com/office/drawing/2014/main" id="{434EE80F-003B-4082-BCFE-D74BC6EDC37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2850" b="1" i="0">
                <a:solidFill>
                  <a:srgbClr val="15231C"/>
                </a:solidFill>
              </a:defRPr>
            </a:pPr>
            <a:r>
              <a:rPr sz="2850" b="1" i="0">
                <a:solidFill>
                  <a:srgbClr val="15231C"/>
                </a:solidFill>
              </a:rPr>
              <a:t>归一化坐标把三个单圆柱参数嵌入同一个底场</a:t>
            </a:r>
          </a:p>
        </p:txBody>
      </p:sp>
      <p:sp>
        <p:nvSpPr>
          <p:cNvPr id="3" name="title-rule-5">
            <a:extLst>
              <a:ext uri="{FF2B5EF4-FFF2-40B4-BE49-F238E27FC236}">
                <a16:creationId xmlns:a16="http://schemas.microsoft.com/office/drawing/2014/main" id="{08184E0E-1734-4CAD-AB2D-8F5C721CF241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104900" cy="38100"/>
          </a:xfrm>
          <a:prstGeom prst="rect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4" name="footer-rule-5">
            <a:extLst>
              <a:ext uri="{FF2B5EF4-FFF2-40B4-BE49-F238E27FC236}">
                <a16:creationId xmlns:a16="http://schemas.microsoft.com/office/drawing/2014/main" id="{C3FB2BEF-FCD4-472B-9507-EB8958EC9E3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5" name="footer-section-5">
            <a:extLst>
              <a:ext uri="{FF2B5EF4-FFF2-40B4-BE49-F238E27FC236}">
                <a16:creationId xmlns:a16="http://schemas.microsoft.com/office/drawing/2014/main" id="{4B4534AC-F0BE-4FBA-9F4E-8A0E2F30DCD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单快照可恢复的 K</a:t>
            </a:r>
          </a:p>
        </p:txBody>
      </p:sp>
      <p:sp>
        <p:nvSpPr>
          <p:cNvPr id="6" name="footer-page-5">
            <a:extLst>
              <a:ext uri="{FF2B5EF4-FFF2-40B4-BE49-F238E27FC236}">
                <a16:creationId xmlns:a16="http://schemas.microsoft.com/office/drawing/2014/main" id="{AC02351D-FD7B-44C8-BA64-7E993AA54C61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05</a:t>
            </a:r>
          </a:p>
        </p:txBody>
      </p:sp>
      <p:sp>
        <p:nvSpPr>
          <p:cNvPr id="7" name="s05-coord-label">
            <a:extLst>
              <a:ext uri="{FF2B5EF4-FFF2-40B4-BE49-F238E27FC236}">
                <a16:creationId xmlns:a16="http://schemas.microsoft.com/office/drawing/2014/main" id="{3A660340-680B-4560-B974-589399643337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C75B3D"/>
                </a:solidFill>
              </a:defRPr>
            </a:pPr>
            <a:r>
              <a:rPr sz="1350" b="1" i="0">
                <a:solidFill>
                  <a:srgbClr val="C75B3D"/>
                </a:solidFill>
              </a:rPr>
              <a:t>坐标定义</a:t>
            </a:r>
          </a:p>
        </p:txBody>
      </p:sp>
      <p:sp>
        <p:nvSpPr>
          <p:cNvPr id="8" name="s05-coord">
            <a:extLst>
              <a:ext uri="{FF2B5EF4-FFF2-40B4-BE49-F238E27FC236}">
                <a16:creationId xmlns:a16="http://schemas.microsoft.com/office/drawing/2014/main" id="{424FB493-A094-4342-A5FB-CFC97B245C01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3524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42000"/>
              </a:lnSpc>
              <a:buNone/>
              <a:defRPr sz="2325" b="1" i="0">
                <a:solidFill>
                  <a:srgbClr val="15231C"/>
                </a:solidFill>
              </a:defRPr>
            </a:pPr>
            <a:r>
              <a:rPr sz="2325" b="1" i="0">
                <a:solidFill>
                  <a:srgbClr val="15231C"/>
                </a:solidFill>
              </a:rPr>
              <a:t>ξ = (x − cₓ) / D</a:t>
            </a:r>
          </a:p>
          <a:p>
            <a:pPr algn="l">
              <a:lnSpc>
                <a:spcPct val="142000"/>
              </a:lnSpc>
              <a:buNone/>
              <a:defRPr sz="2325" b="1" i="0">
                <a:solidFill>
                  <a:srgbClr val="15231C"/>
                </a:solidFill>
              </a:defRPr>
            </a:pPr>
            <a:r>
              <a:rPr sz="2325" b="1" i="0">
                <a:solidFill>
                  <a:srgbClr val="15231C"/>
                </a:solidFill>
              </a:rPr>
              <a:t>η = (y − cᵧ) / D</a:t>
            </a:r>
          </a:p>
          <a:p>
            <a:pPr algn="l">
              <a:lnSpc>
                <a:spcPct val="142000"/>
              </a:lnSpc>
              <a:buNone/>
              <a:defRPr sz="2325" b="1" i="0">
                <a:solidFill>
                  <a:srgbClr val="15231C"/>
                </a:solidFill>
              </a:defRPr>
            </a:pPr>
            <a:r>
              <a:rPr sz="2325" b="1" i="0">
                <a:solidFill>
                  <a:srgbClr val="15231C"/>
                </a:solidFill>
              </a:rPr>
              <a:t>D = 2R</a:t>
            </a:r>
          </a:p>
        </p:txBody>
      </p:sp>
      <p:sp>
        <p:nvSpPr>
          <p:cNvPr id="9" name="s05-divider">
            <a:extLst>
              <a:ext uri="{FF2B5EF4-FFF2-40B4-BE49-F238E27FC236}">
                <a16:creationId xmlns:a16="http://schemas.microsoft.com/office/drawing/2014/main" id="{8074CBFC-3E10-4C6F-BDCD-F62E46A95EAD}"/>
              </a:ext>
            </a:extLst>
          </p:cNvPr>
          <p:cNvSpPr>
            <a:spLocks noGrp="1"/>
          </p:cNvSpPr>
          <p:nvPr/>
        </p:nvSpPr>
        <p:spPr>
          <a:xfrm>
            <a:off x="4762500" y="1809750"/>
            <a:ext cx="19050" cy="3857625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10" name="s05-operator-label">
            <a:extLst>
              <a:ext uri="{FF2B5EF4-FFF2-40B4-BE49-F238E27FC236}">
                <a16:creationId xmlns:a16="http://schemas.microsoft.com/office/drawing/2014/main" id="{AA8C5407-6464-4F96-9435-F9C204B1F1EE}"/>
              </a:ext>
            </a:extLst>
          </p:cNvPr>
          <p:cNvSpPr>
            <a:spLocks noGrp="1"/>
          </p:cNvSpPr>
          <p:nvPr/>
        </p:nvSpPr>
        <p:spPr>
          <a:xfrm>
            <a:off x="5257800" y="1809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C75B3D"/>
                </a:solidFill>
              </a:defRPr>
            </a:pPr>
            <a:r>
              <a:rPr sz="1350" b="1" i="0">
                <a:solidFill>
                  <a:srgbClr val="C75B3D"/>
                </a:solidFill>
              </a:rPr>
              <a:t>Euler 微分算子</a:t>
            </a:r>
          </a:p>
        </p:txBody>
      </p:sp>
      <p:sp>
        <p:nvSpPr>
          <p:cNvPr id="11" name="s05-kr">
            <a:extLst>
              <a:ext uri="{FF2B5EF4-FFF2-40B4-BE49-F238E27FC236}">
                <a16:creationId xmlns:a16="http://schemas.microsoft.com/office/drawing/2014/main" id="{5A2FA8CF-963B-48E0-B243-EFBE8F1B374E}"/>
              </a:ext>
            </a:extLst>
          </p:cNvPr>
          <p:cNvSpPr>
            <a:spLocks noGrp="1"/>
          </p:cNvSpPr>
          <p:nvPr/>
        </p:nvSpPr>
        <p:spPr>
          <a:xfrm>
            <a:off x="5276850" y="2286000"/>
            <a:ext cx="5657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100" b="1" i="0">
                <a:solidFill>
                  <a:srgbClr val="15231C"/>
                </a:solidFill>
              </a:defRPr>
            </a:pPr>
            <a:r>
              <a:rPr sz="2100" b="1" i="0">
                <a:solidFill>
                  <a:srgbClr val="15231C"/>
                </a:solidFill>
              </a:rPr>
              <a:t>Kᵣ = −(2/D) [ ξ fξ + η fη ]</a:t>
            </a:r>
          </a:p>
        </p:txBody>
      </p:sp>
      <p:sp>
        <p:nvSpPr>
          <p:cNvPr id="12" name="s05-kcx">
            <a:extLst>
              <a:ext uri="{FF2B5EF4-FFF2-40B4-BE49-F238E27FC236}">
                <a16:creationId xmlns:a16="http://schemas.microsoft.com/office/drawing/2014/main" id="{9A6B9325-20D8-4541-9CC8-E8EB12F060D6}"/>
              </a:ext>
            </a:extLst>
          </p:cNvPr>
          <p:cNvSpPr>
            <a:spLocks noGrp="1"/>
          </p:cNvSpPr>
          <p:nvPr/>
        </p:nvSpPr>
        <p:spPr>
          <a:xfrm>
            <a:off x="5276850" y="3048000"/>
            <a:ext cx="565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025" b="1" i="0">
                <a:solidFill>
                  <a:srgbClr val="1F5A49"/>
                </a:solidFill>
              </a:defRPr>
            </a:pPr>
            <a:r>
              <a:rPr sz="2025" b="1" i="0">
                <a:solidFill>
                  <a:srgbClr val="1F5A49"/>
                </a:solidFill>
              </a:rPr>
              <a:t>Kcₓ = −(1/D) fξ</a:t>
            </a:r>
          </a:p>
        </p:txBody>
      </p:sp>
      <p:sp>
        <p:nvSpPr>
          <p:cNvPr id="13" name="s05-kcy">
            <a:extLst>
              <a:ext uri="{FF2B5EF4-FFF2-40B4-BE49-F238E27FC236}">
                <a16:creationId xmlns:a16="http://schemas.microsoft.com/office/drawing/2014/main" id="{46AE59E7-982D-43A9-AF37-6D5BAD62F090}"/>
              </a:ext>
            </a:extLst>
          </p:cNvPr>
          <p:cNvSpPr>
            <a:spLocks noGrp="1"/>
          </p:cNvSpPr>
          <p:nvPr/>
        </p:nvSpPr>
        <p:spPr>
          <a:xfrm>
            <a:off x="5276850" y="3752850"/>
            <a:ext cx="565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025" b="1" i="0">
                <a:solidFill>
                  <a:srgbClr val="1F5A49"/>
                </a:solidFill>
              </a:defRPr>
            </a:pPr>
            <a:r>
              <a:rPr sz="2025" b="1" i="0">
                <a:solidFill>
                  <a:srgbClr val="1F5A49"/>
                </a:solidFill>
              </a:rPr>
              <a:t>Kcᵧ = −(1/D) fη</a:t>
            </a:r>
          </a:p>
        </p:txBody>
      </p:sp>
      <p:sp>
        <p:nvSpPr>
          <p:cNvPr id="14" name="s05-callout-rule">
            <a:extLst>
              <a:ext uri="{FF2B5EF4-FFF2-40B4-BE49-F238E27FC236}">
                <a16:creationId xmlns:a16="http://schemas.microsoft.com/office/drawing/2014/main" id="{A41EF526-A9E5-4545-B7FE-FE4278C5BB1A}"/>
              </a:ext>
            </a:extLst>
          </p:cNvPr>
          <p:cNvSpPr>
            <a:spLocks noGrp="1"/>
          </p:cNvSpPr>
          <p:nvPr/>
        </p:nvSpPr>
        <p:spPr>
          <a:xfrm>
            <a:off x="5276850" y="4648200"/>
            <a:ext cx="57150" cy="876300"/>
          </a:xfrm>
          <a:prstGeom prst="rect">
            <a:avLst/>
          </a:prstGeom>
          <a:solidFill>
            <a:srgbClr val="C75B3D"/>
          </a:solidFill>
          <a:ln w="0">
            <a:solidFill>
              <a:srgbClr val="C75B3D"/>
            </a:solidFill>
            <a:prstDash val="solid"/>
          </a:ln>
        </p:spPr>
      </p:sp>
      <p:sp>
        <p:nvSpPr>
          <p:cNvPr id="15" name="s05-callout">
            <a:extLst>
              <a:ext uri="{FF2B5EF4-FFF2-40B4-BE49-F238E27FC236}">
                <a16:creationId xmlns:a16="http://schemas.microsoft.com/office/drawing/2014/main" id="{07AFC5AE-0422-49D7-AD12-63E63448DA1A}"/>
              </a:ext>
            </a:extLst>
          </p:cNvPr>
          <p:cNvSpPr>
            <a:spLocks noGrp="1"/>
          </p:cNvSpPr>
          <p:nvPr/>
        </p:nvSpPr>
        <p:spPr>
          <a:xfrm>
            <a:off x="5543550" y="4686300"/>
            <a:ext cx="56578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5000"/>
              </a:lnSpc>
              <a:buNone/>
              <a:defRPr sz="1575" b="1" i="0">
                <a:solidFill>
                  <a:srgbClr val="15231C"/>
                </a:solidFill>
              </a:defRPr>
            </a:pPr>
            <a:r>
              <a:rPr sz="1575" b="1" i="0">
                <a:solidFill>
                  <a:srgbClr val="15231C"/>
                </a:solidFill>
              </a:rPr>
              <a:t>输入一个基准流场公式，输出三个坐标输运灵敏度场公式。</a:t>
            </a:r>
          </a:p>
          <a:p>
            <a:pPr algn="l">
              <a:lnSpc>
                <a:spcPct val="135000"/>
              </a:lnSpc>
              <a:buNone/>
              <a:defRPr sz="1575" b="1" i="0">
                <a:solidFill>
                  <a:srgbClr val="15231C"/>
                </a:solidFill>
              </a:defRPr>
            </a:pPr>
            <a:r>
              <a:rPr sz="1575" b="1" i="0">
                <a:solidFill>
                  <a:srgbClr val="15231C"/>
                </a:solidFill>
              </a:rPr>
              <a:t>这是冻结场假设下单次仿真能够提供的主要参数信息。</a:t>
            </a:r>
          </a:p>
        </p:txBody>
      </p:sp>
    </p:spTree>
    <p:extLst>
      <p:ext uri="{BB962C8B-B14F-4D97-AF65-F5344CB8AC3E}">
        <p14:creationId xmlns:p14="http://schemas.microsoft.com/office/powerpoint/2010/main" val="173328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">
            <a:extLst>
              <a:ext uri="{FF2B5EF4-FFF2-40B4-BE49-F238E27FC236}">
                <a16:creationId xmlns:a16="http://schemas.microsoft.com/office/drawing/2014/main" id="{F11FEF78-8B0A-4D3C-AD2F-C74AA6FB55F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3000" b="1" i="0">
                <a:solidFill>
                  <a:srgbClr val="15231C"/>
                </a:solidFill>
              </a:defRPr>
            </a:pPr>
            <a:r>
              <a:rPr sz="3000" b="1" i="0">
                <a:solidFill>
                  <a:srgbClr val="15231C"/>
                </a:solidFill>
              </a:rPr>
              <a:t>流函数结构同时保证守恒并缓解观测退化</a:t>
            </a:r>
          </a:p>
        </p:txBody>
      </p:sp>
      <p:sp>
        <p:nvSpPr>
          <p:cNvPr id="3" name="title-rule-6">
            <a:extLst>
              <a:ext uri="{FF2B5EF4-FFF2-40B4-BE49-F238E27FC236}">
                <a16:creationId xmlns:a16="http://schemas.microsoft.com/office/drawing/2014/main" id="{E1099AAC-8326-4710-B126-A3B76810BAE6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104900" cy="38100"/>
          </a:xfrm>
          <a:prstGeom prst="rect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4" name="footer-rule-6">
            <a:extLst>
              <a:ext uri="{FF2B5EF4-FFF2-40B4-BE49-F238E27FC236}">
                <a16:creationId xmlns:a16="http://schemas.microsoft.com/office/drawing/2014/main" id="{21D05909-7F40-4705-B7BE-B89D3FC627B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5" name="footer-section-6">
            <a:extLst>
              <a:ext uri="{FF2B5EF4-FFF2-40B4-BE49-F238E27FC236}">
                <a16:creationId xmlns:a16="http://schemas.microsoft.com/office/drawing/2014/main" id="{6C935057-E427-4016-89BC-12A295D5136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PISR 模型结构</a:t>
            </a:r>
          </a:p>
        </p:txBody>
      </p:sp>
      <p:sp>
        <p:nvSpPr>
          <p:cNvPr id="6" name="footer-page-6">
            <a:extLst>
              <a:ext uri="{FF2B5EF4-FFF2-40B4-BE49-F238E27FC236}">
                <a16:creationId xmlns:a16="http://schemas.microsoft.com/office/drawing/2014/main" id="{78FAC0BB-AA47-4AE4-98DC-DD60349D3C85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06</a:t>
            </a:r>
          </a:p>
        </p:txBody>
      </p:sp>
      <p:sp>
        <p:nvSpPr>
          <p:cNvPr id="7" name="s06-formula">
            <a:extLst>
              <a:ext uri="{FF2B5EF4-FFF2-40B4-BE49-F238E27FC236}">
                <a16:creationId xmlns:a16="http://schemas.microsoft.com/office/drawing/2014/main" id="{A61E507D-71AB-48E4-9315-73540FE090DF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3429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8000"/>
              </a:lnSpc>
              <a:buNone/>
              <a:defRPr sz="2625" b="1" i="0">
                <a:solidFill>
                  <a:srgbClr val="15231C"/>
                </a:solidFill>
              </a:defRPr>
            </a:pPr>
            <a:r>
              <a:rPr sz="2625" b="1" i="0">
                <a:solidFill>
                  <a:srgbClr val="15231C"/>
                </a:solidFill>
              </a:rPr>
              <a:t>u = ∂ψ/∂η</a:t>
            </a:r>
          </a:p>
          <a:p>
            <a:pPr algn="l">
              <a:lnSpc>
                <a:spcPct val="138000"/>
              </a:lnSpc>
              <a:buNone/>
              <a:defRPr sz="2625" b="1" i="0">
                <a:solidFill>
                  <a:srgbClr val="15231C"/>
                </a:solidFill>
              </a:defRPr>
            </a:pPr>
            <a:r>
              <a:rPr sz="2625" b="1" i="0">
                <a:solidFill>
                  <a:srgbClr val="15231C"/>
                </a:solidFill>
              </a:rPr>
              <a:t>v = −∂ψ/∂ξ</a:t>
            </a:r>
          </a:p>
        </p:txBody>
      </p:sp>
      <p:sp>
        <p:nvSpPr>
          <p:cNvPr id="8" name="s06-conservation-bg">
            <a:extLst>
              <a:ext uri="{FF2B5EF4-FFF2-40B4-BE49-F238E27FC236}">
                <a16:creationId xmlns:a16="http://schemas.microsoft.com/office/drawing/2014/main" id="{003EE009-20C3-465F-85DD-CE6DB46D4600}"/>
              </a:ext>
            </a:extLst>
          </p:cNvPr>
          <p:cNvSpPr>
            <a:spLocks noGrp="1"/>
          </p:cNvSpPr>
          <p:nvPr/>
        </p:nvSpPr>
        <p:spPr>
          <a:xfrm>
            <a:off x="704850" y="3543300"/>
            <a:ext cx="3714750" cy="1066800"/>
          </a:xfrm>
          <a:prstGeom prst="rect">
            <a:avLst/>
          </a:prstGeom>
          <a:solidFill>
            <a:srgbClr val="E4EAE3"/>
          </a:solidFill>
          <a:ln w="0">
            <a:solidFill>
              <a:srgbClr val="E4EAE3"/>
            </a:solidFill>
            <a:prstDash val="solid"/>
          </a:ln>
        </p:spPr>
      </p:sp>
      <p:sp>
        <p:nvSpPr>
          <p:cNvPr id="9" name="s06-conservation">
            <a:extLst>
              <a:ext uri="{FF2B5EF4-FFF2-40B4-BE49-F238E27FC236}">
                <a16:creationId xmlns:a16="http://schemas.microsoft.com/office/drawing/2014/main" id="{7E08EA5A-ECB2-414F-9D34-4950CCD610E7}"/>
              </a:ext>
            </a:extLst>
          </p:cNvPr>
          <p:cNvSpPr>
            <a:spLocks noGrp="1"/>
          </p:cNvSpPr>
          <p:nvPr/>
        </p:nvSpPr>
        <p:spPr>
          <a:xfrm>
            <a:off x="971550" y="373380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2850" b="1" i="0">
                <a:solidFill>
                  <a:srgbClr val="1F5A49"/>
                </a:solidFill>
              </a:defRPr>
            </a:pPr>
            <a:r>
              <a:rPr sz="2850" b="1" i="0">
                <a:solidFill>
                  <a:srgbClr val="1F5A49"/>
                </a:solidFill>
              </a:rPr>
              <a:t>∇·u ≡ 0</a:t>
            </a:r>
          </a:p>
        </p:txBody>
      </p:sp>
      <p:sp>
        <p:nvSpPr>
          <p:cNvPr id="10" name="s06-conservation-note">
            <a:extLst>
              <a:ext uri="{FF2B5EF4-FFF2-40B4-BE49-F238E27FC236}">
                <a16:creationId xmlns:a16="http://schemas.microsoft.com/office/drawing/2014/main" id="{0E2D6A54-C1D1-4A4C-AC52-6CE0BC286166}"/>
              </a:ext>
            </a:extLst>
          </p:cNvPr>
          <p:cNvSpPr>
            <a:spLocks noGrp="1"/>
          </p:cNvSpPr>
          <p:nvPr/>
        </p:nvSpPr>
        <p:spPr>
          <a:xfrm>
            <a:off x="990600" y="425767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1275" b="0" i="0">
                <a:solidFill>
                  <a:srgbClr val="6F786F"/>
                </a:solidFill>
              </a:defRPr>
            </a:pPr>
            <a:r>
              <a:rPr sz="1275" b="0" i="0">
                <a:solidFill>
                  <a:srgbClr val="6F786F"/>
                </a:solidFill>
              </a:rPr>
              <a:t>结构性守恒，不依赖软惩罚</a:t>
            </a:r>
          </a:p>
        </p:txBody>
      </p:sp>
      <p:sp>
        <p:nvSpPr>
          <p:cNvPr id="11" name="s06-divider">
            <a:extLst>
              <a:ext uri="{FF2B5EF4-FFF2-40B4-BE49-F238E27FC236}">
                <a16:creationId xmlns:a16="http://schemas.microsoft.com/office/drawing/2014/main" id="{03BB72D2-4C87-4C48-BC79-8B9B2A3602A6}"/>
              </a:ext>
            </a:extLst>
          </p:cNvPr>
          <p:cNvSpPr>
            <a:spLocks noGrp="1"/>
          </p:cNvSpPr>
          <p:nvPr/>
        </p:nvSpPr>
        <p:spPr>
          <a:xfrm>
            <a:off x="4857750" y="1809750"/>
            <a:ext cx="19050" cy="3810000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12" name="s06-m1-value">
            <a:extLst>
              <a:ext uri="{FF2B5EF4-FFF2-40B4-BE49-F238E27FC236}">
                <a16:creationId xmlns:a16="http://schemas.microsoft.com/office/drawing/2014/main" id="{7D4F731A-6B2B-44A3-9299-B0DEA2BE1A3E}"/>
              </a:ext>
            </a:extLst>
          </p:cNvPr>
          <p:cNvSpPr>
            <a:spLocks noGrp="1"/>
          </p:cNvSpPr>
          <p:nvPr/>
        </p:nvSpPr>
        <p:spPr>
          <a:xfrm>
            <a:off x="5353050" y="1866900"/>
            <a:ext cx="2438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4125" b="1" i="0">
                <a:solidFill>
                  <a:srgbClr val="1F5A49"/>
                </a:solidFill>
              </a:defRPr>
            </a:pPr>
            <a:r>
              <a:rPr sz="4125" b="1" i="0">
                <a:solidFill>
                  <a:srgbClr val="1F5A49"/>
                </a:solidFill>
              </a:rPr>
              <a:t>0.000</a:t>
            </a:r>
          </a:p>
        </p:txBody>
      </p:sp>
      <p:sp>
        <p:nvSpPr>
          <p:cNvPr id="13" name="s06-m1-label">
            <a:extLst>
              <a:ext uri="{FF2B5EF4-FFF2-40B4-BE49-F238E27FC236}">
                <a16:creationId xmlns:a16="http://schemas.microsoft.com/office/drawing/2014/main" id="{5A15CC9A-8E8E-425E-8617-9D54ABFB10A5}"/>
              </a:ext>
            </a:extLst>
          </p:cNvPr>
          <p:cNvSpPr>
            <a:spLocks noGrp="1"/>
          </p:cNvSpPr>
          <p:nvPr/>
        </p:nvSpPr>
        <p:spPr>
          <a:xfrm>
            <a:off x="5391150" y="259080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5231C"/>
                </a:solidFill>
              </a:defRPr>
            </a:pPr>
            <a:r>
              <a:rPr sz="1350" b="1" i="0">
                <a:solidFill>
                  <a:srgbClr val="15231C"/>
                </a:solidFill>
              </a:rPr>
              <a:t>ψ-B 的散度 RMS</a:t>
            </a:r>
          </a:p>
        </p:txBody>
      </p:sp>
      <p:sp>
        <p:nvSpPr>
          <p:cNvPr id="14" name="s06-m2-value">
            <a:extLst>
              <a:ext uri="{FF2B5EF4-FFF2-40B4-BE49-F238E27FC236}">
                <a16:creationId xmlns:a16="http://schemas.microsoft.com/office/drawing/2014/main" id="{D3599EF0-BB96-4E67-BDF0-D0C31BF82DD8}"/>
              </a:ext>
            </a:extLst>
          </p:cNvPr>
          <p:cNvSpPr>
            <a:spLocks noGrp="1"/>
          </p:cNvSpPr>
          <p:nvPr/>
        </p:nvSpPr>
        <p:spPr>
          <a:xfrm>
            <a:off x="8362950" y="1866900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3375" b="1" i="0">
                <a:solidFill>
                  <a:srgbClr val="C75B3D"/>
                </a:solidFill>
              </a:defRPr>
            </a:pPr>
            <a:r>
              <a:rPr sz="3375" b="1" i="0">
                <a:solidFill>
                  <a:srgbClr val="C75B3D"/>
                </a:solidFill>
              </a:rPr>
              <a:t>0.15–0.20</a:t>
            </a:r>
          </a:p>
        </p:txBody>
      </p:sp>
      <p:sp>
        <p:nvSpPr>
          <p:cNvPr id="15" name="s06-m2-label">
            <a:extLst>
              <a:ext uri="{FF2B5EF4-FFF2-40B4-BE49-F238E27FC236}">
                <a16:creationId xmlns:a16="http://schemas.microsoft.com/office/drawing/2014/main" id="{A9852F13-EC42-4697-91DA-706FC718B188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2781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5231C"/>
                </a:solidFill>
              </a:defRPr>
            </a:pPr>
            <a:r>
              <a:rPr sz="1350" b="1" i="0">
                <a:solidFill>
                  <a:srgbClr val="15231C"/>
                </a:solidFill>
              </a:rPr>
              <a:t>直接拟合 u 的散度 RMS</a:t>
            </a:r>
          </a:p>
        </p:txBody>
      </p:sp>
      <p:sp>
        <p:nvSpPr>
          <p:cNvPr id="16" name="s06-metric-rule">
            <a:extLst>
              <a:ext uri="{FF2B5EF4-FFF2-40B4-BE49-F238E27FC236}">
                <a16:creationId xmlns:a16="http://schemas.microsoft.com/office/drawing/2014/main" id="{DE1169BE-873B-46BC-9394-05F446C19059}"/>
              </a:ext>
            </a:extLst>
          </p:cNvPr>
          <p:cNvSpPr>
            <a:spLocks noGrp="1"/>
          </p:cNvSpPr>
          <p:nvPr/>
        </p:nvSpPr>
        <p:spPr>
          <a:xfrm>
            <a:off x="5334000" y="3238500"/>
            <a:ext cx="5905500" cy="9525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06-m3-value">
                <a:extLst>
                  <a:ext uri="{FF2B5EF4-FFF2-40B4-BE49-F238E27FC236}">
                    <a16:creationId xmlns:a16="http://schemas.microsoft.com/office/drawing/2014/main" id="{788BDF36-0090-4829-90E5-CC7A7D9B0D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353050" y="3543300"/>
                <a:ext cx="5867400" cy="7620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t"/>
              <a:lstStyle/>
              <a:p>
                <a:r>
                  <a:rPr lang="zh-CN" altLang="zh-CN" sz="2000" b="1" dirty="0"/>
                  <a:t>结构守恒</a:t>
                </a:r>
                <a:r>
                  <a:rPr lang="zh-CN" altLang="zh-CN" sz="2000" dirty="0"/>
                  <a:t>：实测散度 RMS 为 0；直接拟合 </a:t>
                </a:r>
                <a14:m>
                  <m:oMath xmlns:m="http://schemas.openxmlformats.org/officeDocument/2006/math">
                    <m:r>
                      <a:rPr lang="zh-CN" altLang="zh-CN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zh-CN" sz="2000" dirty="0"/>
                  <a:t> 的结果约为 0.15–0.20；</a:t>
                </a:r>
              </a:p>
              <a:p>
                <a:r>
                  <a:rPr lang="zh-CN" altLang="zh-CN" sz="2000" b="1" dirty="0"/>
                  <a:t>改善可辨识性</a:t>
                </a:r>
                <a:r>
                  <a:rPr lang="zh-CN" altLang="zh-CN" sz="2000" dirty="0"/>
                  <a:t>：加入</a:t>
                </a:r>
                <a14:m>
                  <m:oMath xmlns:m="http://schemas.openxmlformats.org/officeDocument/2006/math">
                    <m:r>
                      <a:rPr lang="zh-CN" altLang="zh-CN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zh-CN" sz="2000" dirty="0"/>
                  <a:t>监督后，Pareto 前沿中的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zh-CN" sz="2000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r>
                  <a:rPr lang="zh-CN" altLang="zh-CN" sz="2000" dirty="0"/>
                  <a:t>-退化公式比例由约 90% 降至 33%。</a:t>
                </a:r>
              </a:p>
              <a:p>
                <a:r>
                  <a:rPr lang="zh-CN" altLang="zh-CN" sz="2000" dirty="0"/>
                  <a:t>当前 模型的 Euler 自洽误差约为：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zh-CN" sz="2000" dirty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altLang="zh-CN" sz="2000" i="0" dirty="0">
                          <a:latin typeface="Cambria Math" panose="02040503050406030204" pitchFamily="18" charset="0"/>
                        </a:rPr>
                        <m:t>el</m:t>
                      </m:r>
                      <m:r>
                        <a:rPr lang="zh-CN" altLang="zh-CN" sz="2000" i="0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sz="20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zh-CN" sz="20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zh-CN" sz="2000" i="0" dirty="0">
                          <a:latin typeface="Cambria Math" panose="02040503050406030204" pitchFamily="18" charset="0"/>
                        </a:rPr>
                        <m:t>=5.38%</m:t>
                      </m:r>
                    </m:oMath>
                  </m:oMathPara>
                </a14:m>
                <a:endParaRPr lang="zh-CN" altLang="zh-CN" sz="2000" dirty="0"/>
              </a:p>
              <a:p>
                <a:r>
                  <a:rPr lang="zh-CN" altLang="zh-CN" sz="2000" dirty="0"/>
                  <a:t>说明结构约束优于单纯加入软惩罚。</a:t>
                </a:r>
              </a:p>
            </p:txBody>
          </p:sp>
        </mc:Choice>
        <mc:Fallback xmlns="">
          <p:sp>
            <p:nvSpPr>
              <p:cNvPr id="17" name="s06-m3-value">
                <a:extLst>
                  <a:ext uri="{FF2B5EF4-FFF2-40B4-BE49-F238E27FC236}">
                    <a16:creationId xmlns:a16="http://schemas.microsoft.com/office/drawing/2014/main" id="{788BDF36-0090-4829-90E5-CC7A7D9B0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050" y="3543300"/>
                <a:ext cx="5867400" cy="762000"/>
              </a:xfrm>
              <a:prstGeom prst="rect">
                <a:avLst/>
              </a:prstGeom>
              <a:blipFill>
                <a:blip r:embed="rId3"/>
                <a:stretch>
                  <a:fillRect l="-1038" t="-4800" r="-935" b="-20560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0806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">
            <a:extLst>
              <a:ext uri="{FF2B5EF4-FFF2-40B4-BE49-F238E27FC236}">
                <a16:creationId xmlns:a16="http://schemas.microsoft.com/office/drawing/2014/main" id="{ADD74046-85AE-4938-B74E-FA3FC49A442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3000" b="1" i="0">
                <a:solidFill>
                  <a:srgbClr val="15231C"/>
                </a:solidFill>
              </a:defRPr>
            </a:pPr>
            <a:r>
              <a:rPr sz="3000" b="1" i="0" dirty="0" err="1">
                <a:solidFill>
                  <a:srgbClr val="15231C"/>
                </a:solidFill>
              </a:rPr>
              <a:t>瓶颈在符号梯度</a:t>
            </a:r>
            <a:endParaRPr sz="3000" b="1" i="0" dirty="0">
              <a:solidFill>
                <a:srgbClr val="15231C"/>
              </a:solidFill>
            </a:endParaRPr>
          </a:p>
        </p:txBody>
      </p:sp>
      <p:sp>
        <p:nvSpPr>
          <p:cNvPr id="3" name="title-rule-7">
            <a:extLst>
              <a:ext uri="{FF2B5EF4-FFF2-40B4-BE49-F238E27FC236}">
                <a16:creationId xmlns:a16="http://schemas.microsoft.com/office/drawing/2014/main" id="{E4418B0F-3416-41F7-92D2-BC406377CD81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104900" cy="38100"/>
          </a:xfrm>
          <a:prstGeom prst="rect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4" name="footer-rule-7">
            <a:extLst>
              <a:ext uri="{FF2B5EF4-FFF2-40B4-BE49-F238E27FC236}">
                <a16:creationId xmlns:a16="http://schemas.microsoft.com/office/drawing/2014/main" id="{73CB8FA9-2E17-4A42-9471-5116C59ECFF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5" name="footer-section-7">
            <a:extLst>
              <a:ext uri="{FF2B5EF4-FFF2-40B4-BE49-F238E27FC236}">
                <a16:creationId xmlns:a16="http://schemas.microsoft.com/office/drawing/2014/main" id="{766E2B55-2FB4-4E78-963E-5FB2E220FD5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P0 分解闭合实验</a:t>
            </a:r>
          </a:p>
        </p:txBody>
      </p:sp>
      <p:sp>
        <p:nvSpPr>
          <p:cNvPr id="6" name="footer-page-7">
            <a:extLst>
              <a:ext uri="{FF2B5EF4-FFF2-40B4-BE49-F238E27FC236}">
                <a16:creationId xmlns:a16="http://schemas.microsoft.com/office/drawing/2014/main" id="{5C2DE142-ACFA-48EF-9B07-46B13BCD6A09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07</a:t>
            </a:r>
          </a:p>
        </p:txBody>
      </p:sp>
      <p:sp>
        <p:nvSpPr>
          <p:cNvPr id="7" name="s07-exact-value">
            <a:extLst>
              <a:ext uri="{FF2B5EF4-FFF2-40B4-BE49-F238E27FC236}">
                <a16:creationId xmlns:a16="http://schemas.microsoft.com/office/drawing/2014/main" id="{5E3FE206-4BAA-40A5-A869-42EBCEF457FF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4381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4050" b="1" i="0">
                <a:solidFill>
                  <a:srgbClr val="1F5A49"/>
                </a:solidFill>
              </a:defRPr>
            </a:pPr>
            <a:r>
              <a:rPr sz="4050" b="1" i="0">
                <a:solidFill>
                  <a:srgbClr val="1F5A49"/>
                </a:solidFill>
              </a:rPr>
              <a:t>≤1.7×10⁻¹⁶</a:t>
            </a:r>
          </a:p>
        </p:txBody>
      </p:sp>
      <p:sp>
        <p:nvSpPr>
          <p:cNvPr id="8" name="s07-exact-label">
            <a:extLst>
              <a:ext uri="{FF2B5EF4-FFF2-40B4-BE49-F238E27FC236}">
                <a16:creationId xmlns:a16="http://schemas.microsoft.com/office/drawing/2014/main" id="{D36486AD-A222-45BC-87BD-B0BFF3B7E515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430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5231C"/>
                </a:solidFill>
              </a:defRPr>
            </a:pPr>
            <a:r>
              <a:rPr sz="1350" b="1" i="0">
                <a:solidFill>
                  <a:srgbClr val="15231C"/>
                </a:solidFill>
              </a:rPr>
              <a:t>精确离散路径的相对 L₂ 闭合误差</a:t>
            </a:r>
          </a:p>
        </p:txBody>
      </p:sp>
      <p:sp>
        <p:nvSpPr>
          <p:cNvPr id="9" name="s07-copy">
            <a:extLst>
              <a:ext uri="{FF2B5EF4-FFF2-40B4-BE49-F238E27FC236}">
                <a16:creationId xmlns:a16="http://schemas.microsoft.com/office/drawing/2014/main" id="{76D81184-A2AE-4F15-8890-F8C270411300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8000"/>
              </a:lnSpc>
              <a:buNone/>
              <a:defRPr sz="1575" b="0" i="0">
                <a:solidFill>
                  <a:srgbClr val="6F786F"/>
                </a:solidFill>
              </a:defRPr>
            </a:pPr>
            <a:r>
              <a:rPr sz="1575" b="0" i="0" dirty="0" err="1">
                <a:solidFill>
                  <a:srgbClr val="6F786F"/>
                </a:solidFill>
              </a:rPr>
              <a:t>误差从使用近似空间梯度后开始出现</a:t>
            </a:r>
            <a:r>
              <a:rPr sz="1575" b="0" i="0" dirty="0">
                <a:solidFill>
                  <a:srgbClr val="6F786F"/>
                </a:solidFill>
              </a:rPr>
              <a:t>。</a:t>
            </a:r>
          </a:p>
        </p:txBody>
      </p:sp>
      <p:sp>
        <p:nvSpPr>
          <p:cNvPr id="10" name="s07-callout-rule">
            <a:extLst>
              <a:ext uri="{FF2B5EF4-FFF2-40B4-BE49-F238E27FC236}">
                <a16:creationId xmlns:a16="http://schemas.microsoft.com/office/drawing/2014/main" id="{2D003A7C-D03A-442B-8338-772133E8DC38}"/>
              </a:ext>
            </a:extLst>
          </p:cNvPr>
          <p:cNvSpPr>
            <a:spLocks noGrp="1"/>
          </p:cNvSpPr>
          <p:nvPr/>
        </p:nvSpPr>
        <p:spPr>
          <a:xfrm>
            <a:off x="800100" y="4381500"/>
            <a:ext cx="57150" cy="990600"/>
          </a:xfrm>
          <a:prstGeom prst="rect">
            <a:avLst/>
          </a:prstGeom>
          <a:solidFill>
            <a:srgbClr val="C75B3D"/>
          </a:solidFill>
          <a:ln w="0">
            <a:solidFill>
              <a:srgbClr val="C75B3D"/>
            </a:solidFill>
            <a:prstDash val="solid"/>
          </a:ln>
        </p:spPr>
      </p:sp>
      <p:sp>
        <p:nvSpPr>
          <p:cNvPr id="11" name="s07-callout">
            <a:extLst>
              <a:ext uri="{FF2B5EF4-FFF2-40B4-BE49-F238E27FC236}">
                <a16:creationId xmlns:a16="http://schemas.microsoft.com/office/drawing/2014/main" id="{EBA72568-0527-4998-BFA9-E6FBB0B0B6C4}"/>
              </a:ext>
            </a:extLst>
          </p:cNvPr>
          <p:cNvSpPr>
            <a:spLocks noGrp="1"/>
          </p:cNvSpPr>
          <p:nvPr/>
        </p:nvSpPr>
        <p:spPr>
          <a:xfrm>
            <a:off x="1104900" y="4495800"/>
            <a:ext cx="3524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2100" b="1" i="0">
                <a:solidFill>
                  <a:srgbClr val="15231C"/>
                </a:solidFill>
              </a:defRPr>
            </a:pPr>
            <a:r>
              <a:rPr sz="2100" b="1" i="0">
                <a:solidFill>
                  <a:srgbClr val="15231C"/>
                </a:solidFill>
              </a:rPr>
              <a:t>场值拟合好，</a:t>
            </a:r>
          </a:p>
          <a:p>
            <a:pPr algn="l">
              <a:lnSpc>
                <a:spcPct val="125000"/>
              </a:lnSpc>
              <a:buNone/>
              <a:defRPr sz="2100" b="1" i="0">
                <a:solidFill>
                  <a:srgbClr val="15231C"/>
                </a:solidFill>
              </a:defRPr>
            </a:pPr>
            <a:r>
              <a:rPr sz="2100" b="1" i="0">
                <a:solidFill>
                  <a:srgbClr val="15231C"/>
                </a:solidFill>
              </a:rPr>
              <a:t>不代表导数可信。</a:t>
            </a:r>
          </a:p>
        </p:txBody>
      </p:sp>
      <p:sp>
        <p:nvSpPr>
          <p:cNvPr id="12" name="s07-chart-bg">
            <a:extLst>
              <a:ext uri="{FF2B5EF4-FFF2-40B4-BE49-F238E27FC236}">
                <a16:creationId xmlns:a16="http://schemas.microsoft.com/office/drawing/2014/main" id="{13B9F2F1-E525-48C6-BF2A-ECBC9F4EC529}"/>
              </a:ext>
            </a:extLst>
          </p:cNvPr>
          <p:cNvSpPr>
            <a:spLocks noGrp="1"/>
          </p:cNvSpPr>
          <p:nvPr/>
        </p:nvSpPr>
        <p:spPr>
          <a:xfrm>
            <a:off x="5219700" y="1790700"/>
            <a:ext cx="62865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4D9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="5562600" y="2114550"/>
          <a:ext cx="561975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07-chart-title">
            <a:extLst>
              <a:ext uri="{FF2B5EF4-FFF2-40B4-BE49-F238E27FC236}">
                <a16:creationId xmlns:a16="http://schemas.microsoft.com/office/drawing/2014/main" id="{756DE2C5-C64D-421C-9D00-442B4DAF5974}"/>
              </a:ext>
            </a:extLst>
          </p:cNvPr>
          <p:cNvSpPr>
            <a:spLocks noGrp="1"/>
          </p:cNvSpPr>
          <p:nvPr/>
        </p:nvSpPr>
        <p:spPr>
          <a:xfrm>
            <a:off x="5600700" y="18669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200" b="1" i="0">
                <a:solidFill>
                  <a:srgbClr val="6F786F"/>
                </a:solidFill>
              </a:defRPr>
            </a:pPr>
            <a:r>
              <a:rPr sz="1200" b="1" i="0">
                <a:solidFill>
                  <a:srgbClr val="6F786F"/>
                </a:solidFill>
              </a:rPr>
              <a:t>三参数闭合误差 / %</a:t>
            </a:r>
          </a:p>
        </p:txBody>
      </p:sp>
    </p:spTree>
    <p:extLst>
      <p:ext uri="{BB962C8B-B14F-4D97-AF65-F5344CB8AC3E}">
        <p14:creationId xmlns:p14="http://schemas.microsoft.com/office/powerpoint/2010/main" val="1786898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">
            <a:extLst>
              <a:ext uri="{FF2B5EF4-FFF2-40B4-BE49-F238E27FC236}">
                <a16:creationId xmlns:a16="http://schemas.microsoft.com/office/drawing/2014/main" id="{9D53C145-6677-4DAF-BE93-1279726A065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2775" b="1" i="0">
                <a:solidFill>
                  <a:srgbClr val="15231C"/>
                </a:solidFill>
              </a:defRPr>
            </a:pPr>
            <a:r>
              <a:rPr sz="2775" b="1" i="0" dirty="0" err="1">
                <a:solidFill>
                  <a:srgbClr val="15231C"/>
                </a:solidFill>
              </a:rPr>
              <a:t>不可辨识性</a:t>
            </a:r>
            <a:r>
              <a:rPr lang="zh-CN" altLang="en-US" sz="2775" b="1" i="0" dirty="0">
                <a:solidFill>
                  <a:srgbClr val="15231C"/>
                </a:solidFill>
              </a:rPr>
              <a:t>与</a:t>
            </a:r>
            <a:r>
              <a:rPr sz="2775" b="1" i="0" dirty="0" err="1">
                <a:solidFill>
                  <a:srgbClr val="15231C"/>
                </a:solidFill>
              </a:rPr>
              <a:t>观测矩阵的秩与零空间</a:t>
            </a:r>
            <a:endParaRPr sz="2775" b="1" i="0" dirty="0">
              <a:solidFill>
                <a:srgbClr val="15231C"/>
              </a:solidFill>
            </a:endParaRPr>
          </a:p>
        </p:txBody>
      </p:sp>
      <p:sp>
        <p:nvSpPr>
          <p:cNvPr id="3" name="title-rule-8">
            <a:extLst>
              <a:ext uri="{FF2B5EF4-FFF2-40B4-BE49-F238E27FC236}">
                <a16:creationId xmlns:a16="http://schemas.microsoft.com/office/drawing/2014/main" id="{B705CE87-FC29-4406-A6BA-E97BF8CDF51C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104900" cy="38100"/>
          </a:xfrm>
          <a:prstGeom prst="rect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4" name="footer-rule-8">
            <a:extLst>
              <a:ext uri="{FF2B5EF4-FFF2-40B4-BE49-F238E27FC236}">
                <a16:creationId xmlns:a16="http://schemas.microsoft.com/office/drawing/2014/main" id="{176A1530-4CAA-4B50-9455-DDD3BBFFCA3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6" name="footer-page-8">
            <a:extLst>
              <a:ext uri="{FF2B5EF4-FFF2-40B4-BE49-F238E27FC236}">
                <a16:creationId xmlns:a16="http://schemas.microsoft.com/office/drawing/2014/main" id="{FCBB809B-AD54-4E9C-B706-D4AEE76AB39C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08</a:t>
            </a:r>
          </a:p>
        </p:txBody>
      </p:sp>
      <p:sp>
        <p:nvSpPr>
          <p:cNvPr id="7" name="s08-u-value">
            <a:extLst>
              <a:ext uri="{FF2B5EF4-FFF2-40B4-BE49-F238E27FC236}">
                <a16:creationId xmlns:a16="http://schemas.microsoft.com/office/drawing/2014/main" id="{FE75A5F9-212D-4A2C-9989-F882210188B2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2381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3825" b="1" i="0">
                <a:solidFill>
                  <a:srgbClr val="C75B3D"/>
                </a:solidFill>
              </a:defRPr>
            </a:pPr>
            <a:r>
              <a:rPr sz="3825" b="1" i="0">
                <a:solidFill>
                  <a:srgbClr val="C75B3D"/>
                </a:solidFill>
              </a:rPr>
              <a:t>3 / 7</a:t>
            </a:r>
          </a:p>
        </p:txBody>
      </p:sp>
      <p:sp>
        <p:nvSpPr>
          <p:cNvPr id="8" name="s08-u-label">
            <a:extLst>
              <a:ext uri="{FF2B5EF4-FFF2-40B4-BE49-F238E27FC236}">
                <a16:creationId xmlns:a16="http://schemas.microsoft.com/office/drawing/2014/main" id="{54C56172-8084-4467-B254-654E488F0C78}"/>
              </a:ext>
            </a:extLst>
          </p:cNvPr>
          <p:cNvSpPr>
            <a:spLocks noGrp="1"/>
          </p:cNvSpPr>
          <p:nvPr/>
        </p:nvSpPr>
        <p:spPr>
          <a:xfrm>
            <a:off x="800100" y="2438400"/>
            <a:ext cx="2305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5231C"/>
                </a:solidFill>
              </a:defRPr>
            </a:pPr>
            <a:r>
              <a:rPr sz="1350" b="1" i="0">
                <a:solidFill>
                  <a:srgbClr val="15231C"/>
                </a:solidFill>
              </a:rPr>
              <a:t>仅 u：秩 / 维数，零空间为 4</a:t>
            </a:r>
          </a:p>
        </p:txBody>
      </p:sp>
      <p:sp>
        <p:nvSpPr>
          <p:cNvPr id="9" name="s08-uv-value">
            <a:extLst>
              <a:ext uri="{FF2B5EF4-FFF2-40B4-BE49-F238E27FC236}">
                <a16:creationId xmlns:a16="http://schemas.microsoft.com/office/drawing/2014/main" id="{EC221B56-3046-4928-87D6-C94313DD56D1}"/>
              </a:ext>
            </a:extLst>
          </p:cNvPr>
          <p:cNvSpPr>
            <a:spLocks noGrp="1"/>
          </p:cNvSpPr>
          <p:nvPr/>
        </p:nvSpPr>
        <p:spPr>
          <a:xfrm>
            <a:off x="3524250" y="1714500"/>
            <a:ext cx="304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3825" b="1" i="0">
                <a:solidFill>
                  <a:srgbClr val="1F5A49"/>
                </a:solidFill>
              </a:defRPr>
            </a:pPr>
            <a:r>
              <a:rPr sz="3825" b="1" i="0">
                <a:solidFill>
                  <a:srgbClr val="1F5A49"/>
                </a:solidFill>
              </a:rPr>
              <a:t>6 / 7</a:t>
            </a:r>
          </a:p>
        </p:txBody>
      </p:sp>
      <p:sp>
        <p:nvSpPr>
          <p:cNvPr id="10" name="s08-uv-label">
            <a:extLst>
              <a:ext uri="{FF2B5EF4-FFF2-40B4-BE49-F238E27FC236}">
                <a16:creationId xmlns:a16="http://schemas.microsoft.com/office/drawing/2014/main" id="{40E2E1AB-0EB8-42AB-8A9A-EA27A6813996}"/>
              </a:ext>
            </a:extLst>
          </p:cNvPr>
          <p:cNvSpPr>
            <a:spLocks noGrp="1"/>
          </p:cNvSpPr>
          <p:nvPr/>
        </p:nvSpPr>
        <p:spPr>
          <a:xfrm>
            <a:off x="3562350" y="2438400"/>
            <a:ext cx="2971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15231C"/>
                </a:solidFill>
              </a:defRPr>
            </a:pPr>
            <a:r>
              <a:rPr sz="1350" b="1" i="0">
                <a:solidFill>
                  <a:srgbClr val="15231C"/>
                </a:solidFill>
              </a:rPr>
              <a:t>u + v：仅剩常数规范自由度</a:t>
            </a:r>
          </a:p>
        </p:txBody>
      </p:sp>
      <p:sp>
        <p:nvSpPr>
          <p:cNvPr id="11" name="s08-sparse">
            <a:extLst>
              <a:ext uri="{FF2B5EF4-FFF2-40B4-BE49-F238E27FC236}">
                <a16:creationId xmlns:a16="http://schemas.microsoft.com/office/drawing/2014/main" id="{0601F758-A17D-4B82-8BC9-97431346CE3B}"/>
              </a:ext>
            </a:extLst>
          </p:cNvPr>
          <p:cNvSpPr>
            <a:spLocks noGrp="1"/>
          </p:cNvSpPr>
          <p:nvPr/>
        </p:nvSpPr>
        <p:spPr>
          <a:xfrm>
            <a:off x="7029450" y="1809750"/>
            <a:ext cx="4476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2000"/>
              </a:lnSpc>
              <a:buNone/>
              <a:defRPr sz="1500" b="1" i="0">
                <a:solidFill>
                  <a:srgbClr val="15231C"/>
                </a:solidFill>
              </a:defRPr>
            </a:pPr>
            <a:r>
              <a:rPr sz="1500" b="1" i="0">
                <a:solidFill>
                  <a:srgbClr val="15231C"/>
                </a:solidFill>
              </a:rPr>
              <a:t>只需 3 个 D-optimal v 采样点（0.18% 网格）</a:t>
            </a:r>
          </a:p>
          <a:p>
            <a:pPr algn="l">
              <a:lnSpc>
                <a:spcPct val="132000"/>
              </a:lnSpc>
              <a:buNone/>
              <a:defRPr sz="1500" b="1" i="0">
                <a:solidFill>
                  <a:srgbClr val="15231C"/>
                </a:solidFill>
              </a:defRPr>
            </a:pPr>
            <a:r>
              <a:rPr sz="1500" b="1" i="0">
                <a:solidFill>
                  <a:srgbClr val="15231C"/>
                </a:solidFill>
              </a:rPr>
              <a:t>即可达到 mean rank = 6.00，系数误差 = 0.001136。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48393" y="2928937"/>
            <a:ext cx="6762750" cy="2028825"/>
          </a:xfrm>
          <a:prstGeom prst="rect">
            <a:avLst/>
          </a:prstGeom>
        </p:spPr>
      </p:pic>
      <p:sp>
        <p:nvSpPr>
          <p:cNvPr id="13" name="s08-caption">
            <a:extLst>
              <a:ext uri="{FF2B5EF4-FFF2-40B4-BE49-F238E27FC236}">
                <a16:creationId xmlns:a16="http://schemas.microsoft.com/office/drawing/2014/main" id="{3FA224F9-42FE-4BCA-A6A4-CF172FF9CAD7}"/>
              </a:ext>
            </a:extLst>
          </p:cNvPr>
          <p:cNvSpPr>
            <a:spLocks noGrp="1"/>
          </p:cNvSpPr>
          <p:nvPr/>
        </p:nvSpPr>
        <p:spPr>
          <a:xfrm>
            <a:off x="1717482" y="5836257"/>
            <a:ext cx="9788718" cy="4788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1200" b="0" i="0">
                <a:solidFill>
                  <a:srgbClr val="6F786F"/>
                </a:solidFill>
              </a:defRPr>
            </a:pPr>
            <a:r>
              <a:rPr sz="2400" b="0" i="0" dirty="0" err="1">
                <a:solidFill>
                  <a:srgbClr val="6F786F"/>
                </a:solidFill>
              </a:rPr>
              <a:t>退化不是</a:t>
            </a:r>
            <a:r>
              <a:rPr sz="2400" b="0" i="0" dirty="0">
                <a:solidFill>
                  <a:srgbClr val="6F786F"/>
                </a:solidFill>
              </a:rPr>
              <a:t> </a:t>
            </a:r>
            <a:r>
              <a:rPr sz="2400" b="0" i="0" dirty="0" err="1">
                <a:solidFill>
                  <a:srgbClr val="6F786F"/>
                </a:solidFill>
              </a:rPr>
              <a:t>PySR</a:t>
            </a:r>
            <a:r>
              <a:rPr sz="2400" b="0" i="0" dirty="0">
                <a:solidFill>
                  <a:srgbClr val="6F786F"/>
                </a:solidFill>
              </a:rPr>
              <a:t> </a:t>
            </a:r>
            <a:r>
              <a:rPr sz="2400" b="0" i="0" dirty="0" err="1">
                <a:solidFill>
                  <a:srgbClr val="6F786F"/>
                </a:solidFill>
              </a:rPr>
              <a:t>偶然搜索失败，而是观测算子信息不足的结构结果</a:t>
            </a:r>
            <a:r>
              <a:rPr sz="1200" b="0" i="0" dirty="0">
                <a:solidFill>
                  <a:srgbClr val="6F786F"/>
                </a:solidFill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E2541AC-36F2-75BF-AD99-CC4207AA0027}"/>
                  </a:ext>
                </a:extLst>
              </p:cNvPr>
              <p:cNvSpPr txBox="1"/>
              <p:nvPr/>
            </p:nvSpPr>
            <p:spPr>
              <a:xfrm>
                <a:off x="6634817" y="2727297"/>
                <a:ext cx="5443213" cy="2338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zh-CN" sz="1600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zh-CN" sz="16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zh-CN" sz="1600" dirty="0"/>
                  <a:t>情况下剩余的一个零空间，只是流函数的常数规范自由度。这说明：仅监督 </a:t>
                </a:r>
                <a14:m>
                  <m:oMath xmlns:m="http://schemas.openxmlformats.org/officeDocument/2006/math"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zh-CN" sz="1600" dirty="0"/>
                  <a:t>时，多个不同的流函数无法被区分；</a:t>
                </a:r>
              </a:p>
              <a:p>
                <a:r>
                  <a:rPr lang="zh-CN" altLang="zh-CN" sz="1600" dirty="0"/>
                  <a:t>加入 </a:t>
                </a:r>
                <a14:m>
                  <m:oMath xmlns:m="http://schemas.openxmlformats.org/officeDocument/2006/math"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zh-CN" sz="1600" i="0" dirty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zh-CN" altLang="zh-CN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600" i="1" dirty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zh-CN" altLang="zh-CN" sz="1600" i="1" dirty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</m:oMath>
                </a14:m>
                <a:r>
                  <a:rPr lang="zh-CN" altLang="zh-CN" sz="1600" dirty="0"/>
                  <a:t> 后，大部分不可观测方向被消除；PySR 中出现的退化公式并非偶然的搜索失败，而是观测信息不足的表现。</a:t>
                </a:r>
              </a:p>
              <a:p>
                <a:r>
                  <a:rPr lang="zh-CN" altLang="zh-CN" sz="1600" dirty="0"/>
                  <a:t>进一步只选择 3 个高信息量 </a:t>
                </a:r>
                <a14:m>
                  <m:oMath xmlns:m="http://schemas.openxmlformats.org/officeDocument/2006/math"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zh-CN" sz="1600" dirty="0"/>
                  <a:t> 采样点，占 </a:t>
                </a:r>
                <a14:m>
                  <m:oMath xmlns:m="http://schemas.openxmlformats.org/officeDocument/2006/math"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zh-CN" sz="1600" dirty="0"/>
                  <a:t>网格的 0.18%，即可获得：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zh-CN" sz="1600" i="0" dirty="0" smtClean="0">
                          <a:latin typeface="Cambria Math" panose="02040503050406030204" pitchFamily="18" charset="0"/>
                        </a:rPr>
                        <m:t>mean</m:t>
                      </m:r>
                      <m:r>
                        <m:rPr>
                          <m:nor/>
                        </m:rPr>
                        <a:rPr lang="zh-CN" altLang="zh-CN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zh-CN" sz="1600" i="0" dirty="0" smtClean="0">
                          <a:latin typeface="Cambria Math" panose="02040503050406030204" pitchFamily="18" charset="0"/>
                        </a:rPr>
                        <m:t>rank</m:t>
                      </m:r>
                      <m:r>
                        <a:rPr lang="zh-CN" altLang="zh-CN" sz="1600" i="0" dirty="0">
                          <a:latin typeface="Cambria Math" panose="02040503050406030204" pitchFamily="18" charset="0"/>
                        </a:rPr>
                        <m:t>=6.00,  </m:t>
                      </m:r>
                      <m:r>
                        <m:rPr>
                          <m:nor/>
                        </m:rPr>
                        <a:rPr lang="zh-CN" altLang="zh-CN" sz="1600" i="0" dirty="0">
                          <a:latin typeface="Cambria Math" panose="02040503050406030204" pitchFamily="18" charset="0"/>
                        </a:rPr>
                        <m:t>coefficient</m:t>
                      </m:r>
                      <m:r>
                        <m:rPr>
                          <m:nor/>
                        </m:rPr>
                        <a:rPr lang="zh-CN" altLang="zh-CN" sz="16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zh-CN" sz="1600" i="0" dirty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zh-CN" altLang="zh-CN" sz="1600" i="0" dirty="0">
                          <a:latin typeface="Cambria Math" panose="02040503050406030204" pitchFamily="18" charset="0"/>
                        </a:rPr>
                        <m:t>=0.001136</m:t>
                      </m:r>
                    </m:oMath>
                  </m:oMathPara>
                </a14:m>
                <a:endParaRPr lang="zh-CN" altLang="zh-CN" sz="1600" dirty="0"/>
              </a:p>
              <a:p>
                <a:r>
                  <a:rPr lang="zh-CN" altLang="zh-CN" sz="1600" dirty="0"/>
                  <a:t>说明少量、合理选取的辅助观测可以显著提高可辨识性。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E2541AC-36F2-75BF-AD99-CC4207AA0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817" y="2727297"/>
                <a:ext cx="5443213" cy="2338397"/>
              </a:xfrm>
              <a:prstGeom prst="rect">
                <a:avLst/>
              </a:prstGeom>
              <a:blipFill>
                <a:blip r:embed="rId4"/>
                <a:stretch>
                  <a:fillRect l="-560" t="-781" r="-4479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249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9">
            <a:extLst>
              <a:ext uri="{FF2B5EF4-FFF2-40B4-BE49-F238E27FC236}">
                <a16:creationId xmlns:a16="http://schemas.microsoft.com/office/drawing/2014/main" id="{4C39D039-3C57-420A-B2F8-F1189267A16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3000" b="1" i="0">
                <a:solidFill>
                  <a:srgbClr val="15231C"/>
                </a:solidFill>
              </a:defRPr>
            </a:pPr>
            <a:r>
              <a:rPr sz="3000" b="1" i="0">
                <a:solidFill>
                  <a:srgbClr val="15231C"/>
                </a:solidFill>
              </a:rPr>
              <a:t>场值最优，不等于灵敏度最优</a:t>
            </a:r>
          </a:p>
        </p:txBody>
      </p:sp>
      <p:sp>
        <p:nvSpPr>
          <p:cNvPr id="3" name="title-rule-9">
            <a:extLst>
              <a:ext uri="{FF2B5EF4-FFF2-40B4-BE49-F238E27FC236}">
                <a16:creationId xmlns:a16="http://schemas.microsoft.com/office/drawing/2014/main" id="{8D044B37-6C97-46D8-A16C-7EF9DB9CF5C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104900" cy="38100"/>
          </a:xfrm>
          <a:prstGeom prst="rect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4" name="footer-rule-9">
            <a:extLst>
              <a:ext uri="{FF2B5EF4-FFF2-40B4-BE49-F238E27FC236}">
                <a16:creationId xmlns:a16="http://schemas.microsoft.com/office/drawing/2014/main" id="{D2C306CA-FDC7-4000-9E59-2C8EF8605CC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6" name="footer-page-9">
            <a:extLst>
              <a:ext uri="{FF2B5EF4-FFF2-40B4-BE49-F238E27FC236}">
                <a16:creationId xmlns:a16="http://schemas.microsoft.com/office/drawing/2014/main" id="{4FD09A46-A52A-4C9D-86A2-83A0DA137762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09</a:t>
            </a:r>
          </a:p>
        </p:txBody>
      </p:sp>
      <p:sp>
        <p:nvSpPr>
          <p:cNvPr id="7" name="s09-number">
            <a:extLst>
              <a:ext uri="{FF2B5EF4-FFF2-40B4-BE49-F238E27FC236}">
                <a16:creationId xmlns:a16="http://schemas.microsoft.com/office/drawing/2014/main" id="{81CC645B-96CF-4449-8850-7A8B8D4F3F38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4095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5550" b="1" i="0">
                <a:solidFill>
                  <a:srgbClr val="1F5A49"/>
                </a:solidFill>
              </a:defRPr>
            </a:pPr>
            <a:endParaRPr sz="5550" b="1" i="0" dirty="0">
              <a:solidFill>
                <a:srgbClr val="1F5A4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09-number-label">
                <a:extLst>
                  <a:ext uri="{FF2B5EF4-FFF2-40B4-BE49-F238E27FC236}">
                    <a16:creationId xmlns:a16="http://schemas.microsoft.com/office/drawing/2014/main" id="{7CD094B7-2DA1-440C-A779-756871BDFC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68836" y="1606335"/>
                <a:ext cx="8501627" cy="35814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t"/>
              <a:lstStyle/>
              <a:p>
                <a:r>
                  <a:rPr sz="1650" b="1" i="0" dirty="0" err="1">
                    <a:solidFill>
                      <a:srgbClr val="15231C"/>
                    </a:solidFill>
                  </a:rPr>
                  <a:t>梯度</a:t>
                </a:r>
                <a:r>
                  <a:rPr sz="1650" b="1" i="0" dirty="0">
                    <a:solidFill>
                      <a:srgbClr val="15231C"/>
                    </a:solidFill>
                  </a:rPr>
                  <a:t> MSE</a:t>
                </a:r>
                <a:r>
                  <a:rPr lang="zh-CN" altLang="en-US" sz="1650" b="1" i="0" dirty="0">
                    <a:solidFill>
                      <a:srgbClr val="15231C"/>
                    </a:solidFill>
                  </a:rPr>
                  <a:t>：</a:t>
                </a:r>
                <a:r>
                  <a:rPr lang="zh-CN" altLang="zh-CN" sz="1600" dirty="0"/>
                  <a:t>传统符号回归主要最小化场值误差：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sz="1600" dirty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zh-CN" sz="1600" i="0" dirty="0">
                              <a:latin typeface="Cambria Math" panose="02040503050406030204" pitchFamily="18" charset="0"/>
                            </a:rPr>
                            <m:t>value</m:t>
                          </m:r>
                        </m:sub>
                      </m:sSub>
                      <m:r>
                        <a:rPr lang="zh-CN" altLang="zh-CN" sz="1600" i="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sz="1600" i="0" dirty="0">
                              <a:latin typeface="Cambria Math" panose="02040503050406030204" pitchFamily="18" charset="0"/>
                            </a:rPr>
                            <m:t>MSE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r>
                                <a:rPr lang="zh-CN" altLang="zh-CN" sz="1600" i="0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sz="1600" dirty="0"/>
              </a:p>
              <a:p>
                <a:r>
                  <a:rPr lang="zh-CN" altLang="zh-CN" sz="1600" dirty="0"/>
                  <a:t>但灵敏度依赖空间导数，因此采用归一化 \(H^1\) 型目标：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1600" dirty="0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zh-CN" altLang="zh-CN" sz="1600" i="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sub>
                          </m:sSub>
                          <m:r>
                            <a:rPr lang="zh-CN" altLang="zh-CN" sz="1600" i="0" dirty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zh-CN" sz="1600" i="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zh-CN" sz="1600" i="0" dirty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𝛻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zh-CN" sz="1600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sub>
                              </m:sSub>
                              <m:r>
                                <a:rPr lang="zh-CN" altLang="zh-CN" sz="16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b>
                              </m:sSub>
                            </m:e>
                          </m:d>
                        </m:e>
                      </m:borderBox>
                    </m:oMath>
                  </m:oMathPara>
                </a14:m>
                <a:endParaRPr lang="zh-CN" altLang="zh-CN" sz="1600" dirty="0"/>
              </a:p>
              <a:p>
                <a:r>
                  <a:rPr lang="zh-CN" altLang="zh-CN" sz="1600" dirty="0"/>
                  <a:t>其中：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𝜉</m:t>
                          </m:r>
                        </m:sub>
                      </m:sSub>
                      <m:r>
                        <a:rPr lang="zh-CN" altLang="zh-CN" sz="1600" i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zh-CN" sz="1600" i="0" dirty="0">
                                  <a:latin typeface="Cambria Math" panose="02040503050406030204" pitchFamily="18" charset="0"/>
                                </a:rPr>
                                <m:t>MSE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zh-CN" sz="1600" i="1" dirty="0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sub>
                                  </m:sSub>
                                  <m:r>
                                    <a:rPr lang="zh-CN" altLang="zh-CN" sz="1600" i="0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sz="1600" i="1" dirty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zh-CN" sz="1600" i="1" dirty="0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sub>
                                <m:sup>
                                  <m:r>
                                    <a:rPr lang="zh-CN" altLang="zh-CN" sz="1600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zh-CN" altLang="zh-CN" sz="1600" i="0" dirty="0">
                          <a:latin typeface="Cambria Math" panose="02040503050406030204" pitchFamily="18" charset="0"/>
                        </a:rPr>
                        <m:t>,  </m:t>
                      </m:r>
                      <m:sSub>
                        <m:sSubPr>
                          <m:ctrlP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zh-CN" altLang="zh-CN" sz="1600" i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zh-CN" sz="1600" i="0" dirty="0">
                                  <a:latin typeface="Cambria Math" panose="02040503050406030204" pitchFamily="18" charset="0"/>
                                </a:rPr>
                                <m:t>MSE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zh-CN" sz="1600" i="1" dirty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sub>
                                  </m:sSub>
                                  <m:r>
                                    <a:rPr lang="zh-CN" altLang="zh-CN" sz="1600" i="0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sz="1600" i="1" dirty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zh-CN" sz="1600" i="1" dirty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b>
                                <m:sup>
                                  <m:r>
                                    <a:rPr lang="zh-CN" altLang="zh-CN" sz="1600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1600" dirty="0"/>
              </a:p>
              <a:p>
                <a:r>
                  <a:rPr lang="zh-CN" altLang="zh-CN" sz="1600" dirty="0"/>
                  <a:t>实验结果：</a:t>
                </a:r>
              </a:p>
              <a:p>
                <a:r>
                  <a:rPr lang="zh-CN" altLang="zh-CN" sz="1600" dirty="0"/>
                  <a:t>场值 MSE 仅增加 14.3%；</a:t>
                </a:r>
              </a:p>
              <a:p>
                <a:r>
                  <a:rPr lang="zh-CN" altLang="zh-CN" sz="1600" dirty="0"/>
                  <a:t>梯度 MSE 下降 68.4%；</a:t>
                </a:r>
              </a:p>
              <a:p>
                <a:r>
                  <a:rPr lang="zh-CN" altLang="zh-CN" sz="1600" dirty="0"/>
                  <a:t>梯度相对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6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zh-CN" sz="1600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1600" dirty="0"/>
                  <a:t>误差由 9.63% 降至 5.41%。</a:t>
                </a:r>
              </a:p>
              <a:p>
                <a:r>
                  <a:rPr lang="zh-CN" altLang="zh-CN" sz="1600" dirty="0"/>
                  <a:t>在匹配复杂度 </a:t>
                </a:r>
                <a14:m>
                  <m:oMath xmlns:m="http://schemas.openxmlformats.org/officeDocument/2006/math"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zh-CN" sz="1600" i="0" dirty="0">
                        <a:latin typeface="Cambria Math" panose="02040503050406030204" pitchFamily="18" charset="0"/>
                      </a:rPr>
                      <m:t>=21</m:t>
                    </m:r>
                  </m:oMath>
                </a14:m>
                <a:r>
                  <a:rPr lang="zh-CN" altLang="zh-CN" sz="1600" dirty="0"/>
                  <a:t>时：</a:t>
                </a:r>
              </a:p>
              <a:p>
                <a:r>
                  <a:rPr lang="zh-CN" altLang="zh-CN" sz="1600" dirty="0"/>
                  <a:t>两个公式的场值 MSE 仅相差 4.7%；</a:t>
                </a:r>
              </a:p>
              <a:p>
                <a:r>
                  <a:rPr lang="zh-CN" altLang="zh-CN" sz="1600" dirty="0"/>
                  <a:t>导数感知公式的梯度 MSE 下降 69.9%。</a:t>
                </a:r>
              </a:p>
              <a:p>
                <a:pPr algn="l">
                  <a:lnSpc>
                    <a:spcPct val="118000"/>
                  </a:lnSpc>
                  <a:buNone/>
                  <a:defRPr sz="1650" b="1" i="0">
                    <a:solidFill>
                      <a:srgbClr val="15231C"/>
                    </a:solidFill>
                  </a:defRPr>
                </a:pPr>
                <a:endParaRPr sz="1650" b="1" i="0" dirty="0">
                  <a:solidFill>
                    <a:srgbClr val="15231C"/>
                  </a:solidFill>
                </a:endParaRPr>
              </a:p>
            </p:txBody>
          </p:sp>
        </mc:Choice>
        <mc:Fallback xmlns="">
          <p:sp>
            <p:nvSpPr>
              <p:cNvPr id="8" name="s09-number-label">
                <a:extLst>
                  <a:ext uri="{FF2B5EF4-FFF2-40B4-BE49-F238E27FC236}">
                    <a16:creationId xmlns:a16="http://schemas.microsoft.com/office/drawing/2014/main" id="{7CD094B7-2DA1-440C-A779-756871BDFC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36" y="1606335"/>
                <a:ext cx="8501627" cy="3581400"/>
              </a:xfrm>
              <a:prstGeom prst="rect">
                <a:avLst/>
              </a:prstGeom>
              <a:blipFill>
                <a:blip r:embed="rId3"/>
                <a:stretch>
                  <a:fillRect l="-430" t="-852" b="-1754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09-support">
            <a:extLst>
              <a:ext uri="{FF2B5EF4-FFF2-40B4-BE49-F238E27FC236}">
                <a16:creationId xmlns:a16="http://schemas.microsoft.com/office/drawing/2014/main" id="{DEC9187B-B52E-438D-A524-ABEA3F5409CC}"/>
              </a:ext>
            </a:extLst>
          </p:cNvPr>
          <p:cNvSpPr>
            <a:spLocks noGrp="1"/>
          </p:cNvSpPr>
          <p:nvPr/>
        </p:nvSpPr>
        <p:spPr>
          <a:xfrm>
            <a:off x="781050" y="3543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45000"/>
              </a:lnSpc>
              <a:buNone/>
              <a:defRPr sz="1500" b="0" i="0">
                <a:solidFill>
                  <a:srgbClr val="6F786F"/>
                </a:solidFill>
              </a:defRPr>
            </a:pPr>
            <a:endParaRPr sz="1500" b="0" i="0" dirty="0">
              <a:solidFill>
                <a:srgbClr val="6F786F"/>
              </a:solidFill>
            </a:endParaRPr>
          </a:p>
        </p:txBody>
      </p:sp>
      <p:sp>
        <p:nvSpPr>
          <p:cNvPr id="11" name="s09-callout">
            <a:extLst>
              <a:ext uri="{FF2B5EF4-FFF2-40B4-BE49-F238E27FC236}">
                <a16:creationId xmlns:a16="http://schemas.microsoft.com/office/drawing/2014/main" id="{96AF9CC3-FCE2-4E8E-9DF2-45EBFFA2E932}"/>
              </a:ext>
            </a:extLst>
          </p:cNvPr>
          <p:cNvSpPr>
            <a:spLocks noGrp="1"/>
          </p:cNvSpPr>
          <p:nvPr/>
        </p:nvSpPr>
        <p:spPr>
          <a:xfrm>
            <a:off x="568836" y="5727270"/>
            <a:ext cx="4095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5000"/>
              </a:lnSpc>
              <a:buNone/>
              <a:defRPr sz="1575" b="1" i="0">
                <a:solidFill>
                  <a:srgbClr val="15231C"/>
                </a:solidFill>
              </a:defRPr>
            </a:pPr>
            <a:r>
              <a:rPr sz="1575" b="1" i="0" dirty="0" err="1">
                <a:solidFill>
                  <a:srgbClr val="15231C"/>
                </a:solidFill>
              </a:rPr>
              <a:t>模型应按最终需要的导数进行选择</a:t>
            </a:r>
            <a:r>
              <a:rPr sz="1575" b="1" i="0" dirty="0">
                <a:solidFill>
                  <a:srgbClr val="15231C"/>
                </a:solidFill>
              </a:rPr>
              <a:t>，</a:t>
            </a:r>
          </a:p>
          <a:p>
            <a:pPr algn="l">
              <a:lnSpc>
                <a:spcPct val="135000"/>
              </a:lnSpc>
              <a:buNone/>
              <a:defRPr sz="1575" b="1" i="0">
                <a:solidFill>
                  <a:srgbClr val="15231C"/>
                </a:solidFill>
              </a:defRPr>
            </a:pPr>
            <a:r>
              <a:rPr sz="1575" b="1" i="0" dirty="0" err="1">
                <a:solidFill>
                  <a:srgbClr val="15231C"/>
                </a:solidFill>
              </a:rPr>
              <a:t>而不能只看场值拟合</a:t>
            </a:r>
            <a:r>
              <a:rPr sz="1575" b="1" i="0" dirty="0">
                <a:solidFill>
                  <a:srgbClr val="15231C"/>
                </a:solidFill>
              </a:rPr>
              <a:t>。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78895" y="3933825"/>
            <a:ext cx="6115050" cy="235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05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2">
            <a:extLst>
              <a:ext uri="{FF2B5EF4-FFF2-40B4-BE49-F238E27FC236}">
                <a16:creationId xmlns:a16="http://schemas.microsoft.com/office/drawing/2014/main" id="{6573536D-FD4F-4FC1-8F28-D243091E3D8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2700" b="1" i="0">
                <a:solidFill>
                  <a:srgbClr val="F8F6F1"/>
                </a:solidFill>
              </a:defRPr>
            </a:pPr>
            <a:r>
              <a:rPr sz="2700" b="1" i="0">
                <a:solidFill>
                  <a:srgbClr val="F8F6F1"/>
                </a:solidFill>
              </a:rPr>
              <a:t>一次仿真没有“猜出”总灵敏度，却揭示了更普适的问题</a:t>
            </a:r>
          </a:p>
        </p:txBody>
      </p:sp>
      <p:sp>
        <p:nvSpPr>
          <p:cNvPr id="3" name="title-rule-12">
            <a:extLst>
              <a:ext uri="{FF2B5EF4-FFF2-40B4-BE49-F238E27FC236}">
                <a16:creationId xmlns:a16="http://schemas.microsoft.com/office/drawing/2014/main" id="{372CACC8-933B-407B-A782-96CD4F9DE27B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104900" cy="38100"/>
          </a:xfrm>
          <a:prstGeom prst="rect">
            <a:avLst/>
          </a:prstGeom>
          <a:solidFill>
            <a:srgbClr val="D0E1D9"/>
          </a:solidFill>
          <a:ln w="0">
            <a:solidFill>
              <a:srgbClr val="D0E1D9"/>
            </a:solidFill>
            <a:prstDash val="solid"/>
          </a:ln>
        </p:spPr>
      </p:sp>
      <p:sp>
        <p:nvSpPr>
          <p:cNvPr id="4" name="footer-rule-12">
            <a:extLst>
              <a:ext uri="{FF2B5EF4-FFF2-40B4-BE49-F238E27FC236}">
                <a16:creationId xmlns:a16="http://schemas.microsoft.com/office/drawing/2014/main" id="{7FAD8B65-F7EA-4E56-A9EC-3B5C1FBF8BD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5E7F74"/>
          </a:solidFill>
          <a:ln w="0">
            <a:solidFill>
              <a:srgbClr val="5E7F74"/>
            </a:solidFill>
            <a:prstDash val="solid"/>
          </a:ln>
        </p:spPr>
      </p:sp>
      <p:sp>
        <p:nvSpPr>
          <p:cNvPr id="6" name="footer-page-12">
            <a:extLst>
              <a:ext uri="{FF2B5EF4-FFF2-40B4-BE49-F238E27FC236}">
                <a16:creationId xmlns:a16="http://schemas.microsoft.com/office/drawing/2014/main" id="{51EA64C7-0BCE-4354-9239-AE8211EBEE0E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975" b="0" i="0">
                <a:solidFill>
                  <a:srgbClr val="D5E0DB"/>
                </a:solidFill>
              </a:defRPr>
            </a:pPr>
            <a:r>
              <a:rPr sz="975" b="0" i="0">
                <a:solidFill>
                  <a:srgbClr val="D5E0DB"/>
                </a:solidFill>
              </a:rPr>
              <a:t>12</a:t>
            </a:r>
          </a:p>
        </p:txBody>
      </p:sp>
      <p:sp>
        <p:nvSpPr>
          <p:cNvPr id="7" name="s12-left-label">
            <a:extLst>
              <a:ext uri="{FF2B5EF4-FFF2-40B4-BE49-F238E27FC236}">
                <a16:creationId xmlns:a16="http://schemas.microsoft.com/office/drawing/2014/main" id="{FD83D5C2-0B85-4F94-9239-233BBF569476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F39A72"/>
                </a:solidFill>
              </a:defRPr>
            </a:pPr>
            <a:r>
              <a:rPr sz="1350" b="1" i="0">
                <a:solidFill>
                  <a:srgbClr val="F39A72"/>
                </a:solidFill>
              </a:rPr>
              <a:t>传统符号回归优化</a:t>
            </a:r>
          </a:p>
        </p:txBody>
      </p:sp>
      <p:sp>
        <p:nvSpPr>
          <p:cNvPr id="8" name="s12-left-eq">
            <a:extLst>
              <a:ext uri="{FF2B5EF4-FFF2-40B4-BE49-F238E27FC236}">
                <a16:creationId xmlns:a16="http://schemas.microsoft.com/office/drawing/2014/main" id="{B2A02A20-0ED0-40CA-9331-F8958EDA5D01}"/>
              </a:ext>
            </a:extLst>
          </p:cNvPr>
          <p:cNvSpPr>
            <a:spLocks noGrp="1"/>
          </p:cNvSpPr>
          <p:nvPr/>
        </p:nvSpPr>
        <p:spPr>
          <a:xfrm>
            <a:off x="781050" y="2324100"/>
            <a:ext cx="45339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4000"/>
              </a:lnSpc>
              <a:buNone/>
              <a:defRPr sz="2100" b="1" i="0">
                <a:solidFill>
                  <a:srgbClr val="F8F6F1"/>
                </a:solidFill>
              </a:defRPr>
            </a:pPr>
            <a:r>
              <a:rPr sz="2100" b="1" i="0">
                <a:solidFill>
                  <a:srgbClr val="F8F6F1"/>
                </a:solidFill>
              </a:rPr>
              <a:t>min  MSE(f, u)</a:t>
            </a:r>
          </a:p>
          <a:p>
            <a:pPr algn="l">
              <a:lnSpc>
                <a:spcPct val="134000"/>
              </a:lnSpc>
              <a:buNone/>
              <a:defRPr sz="2100" b="1" i="0">
                <a:solidFill>
                  <a:srgbClr val="F8F6F1"/>
                </a:solidFill>
              </a:defRPr>
            </a:pPr>
            <a:r>
              <a:rPr sz="2100" b="1" i="0">
                <a:solidFill>
                  <a:srgbClr val="F8F6F1"/>
                </a:solidFill>
              </a:rPr>
              <a:t>   + λ · Complexity(f)</a:t>
            </a:r>
          </a:p>
        </p:txBody>
      </p:sp>
      <p:sp>
        <p:nvSpPr>
          <p:cNvPr id="9" name="s12-divider">
            <a:extLst>
              <a:ext uri="{FF2B5EF4-FFF2-40B4-BE49-F238E27FC236}">
                <a16:creationId xmlns:a16="http://schemas.microsoft.com/office/drawing/2014/main" id="{A74F1146-41A9-46B9-8377-AC68FCBE187F}"/>
              </a:ext>
            </a:extLst>
          </p:cNvPr>
          <p:cNvSpPr>
            <a:spLocks noGrp="1"/>
          </p:cNvSpPr>
          <p:nvPr/>
        </p:nvSpPr>
        <p:spPr>
          <a:xfrm>
            <a:off x="5924550" y="1771650"/>
            <a:ext cx="19050" cy="2781300"/>
          </a:xfrm>
          <a:prstGeom prst="rect">
            <a:avLst/>
          </a:prstGeom>
          <a:solidFill>
            <a:srgbClr val="5E7F74"/>
          </a:solidFill>
          <a:ln w="0">
            <a:solidFill>
              <a:srgbClr val="5E7F74"/>
            </a:solidFill>
            <a:prstDash val="solid"/>
          </a:ln>
        </p:spPr>
      </p:sp>
      <p:sp>
        <p:nvSpPr>
          <p:cNvPr id="10" name="s12-right-label">
            <a:extLst>
              <a:ext uri="{FF2B5EF4-FFF2-40B4-BE49-F238E27FC236}">
                <a16:creationId xmlns:a16="http://schemas.microsoft.com/office/drawing/2014/main" id="{1B1E4400-9CD5-4A10-9FB1-32DBF05EE2B1}"/>
              </a:ext>
            </a:extLst>
          </p:cNvPr>
          <p:cNvSpPr>
            <a:spLocks noGrp="1"/>
          </p:cNvSpPr>
          <p:nvPr/>
        </p:nvSpPr>
        <p:spPr>
          <a:xfrm>
            <a:off x="6419850" y="1847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1" i="0">
                <a:solidFill>
                  <a:srgbClr val="F39A72"/>
                </a:solidFill>
              </a:defRPr>
            </a:pPr>
            <a:r>
              <a:rPr sz="1350" b="1" i="0">
                <a:solidFill>
                  <a:srgbClr val="F39A72"/>
                </a:solidFill>
              </a:rPr>
              <a:t>PDE 设计真正关心</a:t>
            </a:r>
          </a:p>
        </p:txBody>
      </p:sp>
      <p:sp>
        <p:nvSpPr>
          <p:cNvPr id="11" name="s12-right-eq">
            <a:extLst>
              <a:ext uri="{FF2B5EF4-FFF2-40B4-BE49-F238E27FC236}">
                <a16:creationId xmlns:a16="http://schemas.microsoft.com/office/drawing/2014/main" id="{CA40F479-2B3B-4353-B20C-71869B8B93C6}"/>
              </a:ext>
            </a:extLst>
          </p:cNvPr>
          <p:cNvSpPr>
            <a:spLocks noGrp="1"/>
          </p:cNvSpPr>
          <p:nvPr/>
        </p:nvSpPr>
        <p:spPr>
          <a:xfrm>
            <a:off x="6457950" y="2324100"/>
            <a:ext cx="4476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4000"/>
              </a:lnSpc>
              <a:buNone/>
              <a:defRPr sz="2325" b="1" i="0">
                <a:solidFill>
                  <a:srgbClr val="F8F6F1"/>
                </a:solidFill>
              </a:defRPr>
            </a:pPr>
            <a:r>
              <a:rPr sz="2325" b="1" i="0">
                <a:solidFill>
                  <a:srgbClr val="F8F6F1"/>
                </a:solidFill>
              </a:rPr>
              <a:t>∇f     ∂f/∂p</a:t>
            </a:r>
          </a:p>
          <a:p>
            <a:pPr algn="l">
              <a:lnSpc>
                <a:spcPct val="134000"/>
              </a:lnSpc>
              <a:buNone/>
              <a:defRPr sz="2325" b="1" i="0">
                <a:solidFill>
                  <a:srgbClr val="F8F6F1"/>
                </a:solidFill>
              </a:defRPr>
            </a:pPr>
            <a:r>
              <a:rPr sz="2325" b="1" i="0">
                <a:solidFill>
                  <a:srgbClr val="F8F6F1"/>
                </a:solidFill>
              </a:rPr>
              <a:t>Sₚ     敏感区域</a:t>
            </a:r>
          </a:p>
        </p:txBody>
      </p:sp>
      <p:sp>
        <p:nvSpPr>
          <p:cNvPr id="12" name="s12-logic-bg">
            <a:extLst>
              <a:ext uri="{FF2B5EF4-FFF2-40B4-BE49-F238E27FC236}">
                <a16:creationId xmlns:a16="http://schemas.microsoft.com/office/drawing/2014/main" id="{6211971F-07A3-4D6E-9FAD-7668C4EB163C}"/>
              </a:ext>
            </a:extLst>
          </p:cNvPr>
          <p:cNvSpPr>
            <a:spLocks noGrp="1"/>
          </p:cNvSpPr>
          <p:nvPr/>
        </p:nvSpPr>
        <p:spPr>
          <a:xfrm>
            <a:off x="1428750" y="3771900"/>
            <a:ext cx="9334500" cy="876300"/>
          </a:xfrm>
          <a:prstGeom prst="rect">
            <a:avLst/>
          </a:prstGeom>
          <a:solidFill>
            <a:srgbClr val="244E42"/>
          </a:solidFill>
          <a:ln w="0">
            <a:solidFill>
              <a:srgbClr val="244E42"/>
            </a:solidFill>
            <a:prstDash val="solid"/>
          </a:ln>
        </p:spPr>
      </p:sp>
      <p:sp>
        <p:nvSpPr>
          <p:cNvPr id="13" name="s12-logic">
            <a:extLst>
              <a:ext uri="{FF2B5EF4-FFF2-40B4-BE49-F238E27FC236}">
                <a16:creationId xmlns:a16="http://schemas.microsoft.com/office/drawing/2014/main" id="{78780F52-F7CD-42DC-9829-1C57640EBC40}"/>
              </a:ext>
            </a:extLst>
          </p:cNvPr>
          <p:cNvSpPr>
            <a:spLocks noGrp="1"/>
          </p:cNvSpPr>
          <p:nvPr/>
        </p:nvSpPr>
        <p:spPr>
          <a:xfrm>
            <a:off x="1790700" y="3981450"/>
            <a:ext cx="8610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2625" b="1" i="0">
                <a:solidFill>
                  <a:srgbClr val="F8F6F1"/>
                </a:solidFill>
              </a:defRPr>
            </a:pPr>
            <a:r>
              <a:rPr sz="2625" b="1" i="0">
                <a:solidFill>
                  <a:srgbClr val="F8F6F1"/>
                </a:solidFill>
              </a:rPr>
              <a:t>‖f − u‖ ≪ 1    ⇏    ‖∇f − ∇u‖ ≪ 1</a:t>
            </a:r>
          </a:p>
        </p:txBody>
      </p:sp>
      <p:sp>
        <p:nvSpPr>
          <p:cNvPr id="14" name="s12-goal">
            <a:extLst>
              <a:ext uri="{FF2B5EF4-FFF2-40B4-BE49-F238E27FC236}">
                <a16:creationId xmlns:a16="http://schemas.microsoft.com/office/drawing/2014/main" id="{6E8A5A0A-1504-4961-866F-A8D7297C977B}"/>
              </a:ext>
            </a:extLst>
          </p:cNvPr>
          <p:cNvSpPr>
            <a:spLocks noGrp="1"/>
          </p:cNvSpPr>
          <p:nvPr/>
        </p:nvSpPr>
        <p:spPr>
          <a:xfrm>
            <a:off x="1409700" y="5219700"/>
            <a:ext cx="937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1725" b="1" i="0">
                <a:solidFill>
                  <a:srgbClr val="E7EFEA"/>
                </a:solidFill>
              </a:defRPr>
            </a:pPr>
            <a:r>
              <a:rPr lang="zh-CN" altLang="en-US" sz="1725" b="1" i="0" dirty="0">
                <a:solidFill>
                  <a:srgbClr val="E7EFEA"/>
                </a:solidFill>
              </a:rPr>
              <a:t>可能</a:t>
            </a:r>
            <a:r>
              <a:rPr sz="1725" b="1" i="0" dirty="0" err="1">
                <a:solidFill>
                  <a:srgbClr val="E7EFEA"/>
                </a:solidFill>
              </a:rPr>
              <a:t>研究目标：明确可观测信息，利用物理结构消除退化，并直接优化和验证模型导数</a:t>
            </a:r>
            <a:r>
              <a:rPr sz="1725" b="1" i="0" dirty="0">
                <a:solidFill>
                  <a:srgbClr val="E7EFEA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70518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3">
            <a:extLst>
              <a:ext uri="{FF2B5EF4-FFF2-40B4-BE49-F238E27FC236}">
                <a16:creationId xmlns:a16="http://schemas.microsoft.com/office/drawing/2014/main" id="{76CB1272-06BF-4AE3-B388-8F8D269B40E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3000" b="1" i="0">
                <a:solidFill>
                  <a:srgbClr val="15231C"/>
                </a:solidFill>
              </a:defRPr>
            </a:pPr>
            <a:r>
              <a:rPr lang="zh-CN" altLang="en-US" sz="3000" b="1" i="0" dirty="0">
                <a:solidFill>
                  <a:srgbClr val="15231C"/>
                </a:solidFill>
              </a:rPr>
              <a:t>单</a:t>
            </a:r>
            <a:r>
              <a:rPr sz="3000" b="1" i="0" dirty="0" err="1">
                <a:solidFill>
                  <a:srgbClr val="15231C"/>
                </a:solidFill>
              </a:rPr>
              <a:t>圆柱实验</a:t>
            </a:r>
            <a:endParaRPr sz="3000" b="1" i="0" dirty="0">
              <a:solidFill>
                <a:srgbClr val="15231C"/>
              </a:solidFill>
            </a:endParaRPr>
          </a:p>
        </p:txBody>
      </p:sp>
      <p:sp>
        <p:nvSpPr>
          <p:cNvPr id="3" name="title-rule-13">
            <a:extLst>
              <a:ext uri="{FF2B5EF4-FFF2-40B4-BE49-F238E27FC236}">
                <a16:creationId xmlns:a16="http://schemas.microsoft.com/office/drawing/2014/main" id="{8FD6A71A-49DF-42CC-96C9-5722680352AD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104900" cy="38100"/>
          </a:xfrm>
          <a:prstGeom prst="rect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4" name="footer-rule-13">
            <a:extLst>
              <a:ext uri="{FF2B5EF4-FFF2-40B4-BE49-F238E27FC236}">
                <a16:creationId xmlns:a16="http://schemas.microsoft.com/office/drawing/2014/main" id="{F0A7AF52-1A28-4BA6-8327-655D4BB6BFC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6" name="footer-page-13">
            <a:extLst>
              <a:ext uri="{FF2B5EF4-FFF2-40B4-BE49-F238E27FC236}">
                <a16:creationId xmlns:a16="http://schemas.microsoft.com/office/drawing/2014/main" id="{CDB99A2C-C2D8-4DD8-85F8-8C1619364224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13</a:t>
            </a:r>
          </a:p>
        </p:txBody>
      </p:sp>
      <p:sp>
        <p:nvSpPr>
          <p:cNvPr id="7" name="s13-num-0">
            <a:extLst>
              <a:ext uri="{FF2B5EF4-FFF2-40B4-BE49-F238E27FC236}">
                <a16:creationId xmlns:a16="http://schemas.microsoft.com/office/drawing/2014/main" id="{5C308B7C-7910-49A7-9143-1FBD2BC8C47C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72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850" b="1" i="0">
                <a:solidFill>
                  <a:srgbClr val="1F5A49"/>
                </a:solidFill>
              </a:defRPr>
            </a:pPr>
            <a:r>
              <a:rPr sz="2850" b="1" i="0">
                <a:solidFill>
                  <a:srgbClr val="1F5A49"/>
                </a:solidFill>
              </a:rPr>
              <a:t>01</a:t>
            </a:r>
          </a:p>
        </p:txBody>
      </p:sp>
      <p:sp>
        <p:nvSpPr>
          <p:cNvPr id="8" name="s13-vrule-0">
            <a:extLst>
              <a:ext uri="{FF2B5EF4-FFF2-40B4-BE49-F238E27FC236}">
                <a16:creationId xmlns:a16="http://schemas.microsoft.com/office/drawing/2014/main" id="{21348C4F-424E-4830-93D4-D8D2FD9B640E}"/>
              </a:ext>
            </a:extLst>
          </p:cNvPr>
          <p:cNvSpPr>
            <a:spLocks noGrp="1"/>
          </p:cNvSpPr>
          <p:nvPr/>
        </p:nvSpPr>
        <p:spPr>
          <a:xfrm>
            <a:off x="1619250" y="1885950"/>
            <a:ext cx="19050" cy="876300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9" name="s13-head-0">
            <a:extLst>
              <a:ext uri="{FF2B5EF4-FFF2-40B4-BE49-F238E27FC236}">
                <a16:creationId xmlns:a16="http://schemas.microsoft.com/office/drawing/2014/main" id="{2543FA5E-7642-4902-8DF2-BE35991FE8D7}"/>
              </a:ext>
            </a:extLst>
          </p:cNvPr>
          <p:cNvSpPr>
            <a:spLocks noGrp="1"/>
          </p:cNvSpPr>
          <p:nvPr/>
        </p:nvSpPr>
        <p:spPr>
          <a:xfrm>
            <a:off x="1943100" y="18669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725" b="1" i="0">
                <a:solidFill>
                  <a:srgbClr val="15231C"/>
                </a:solidFill>
              </a:defRPr>
            </a:pPr>
            <a:r>
              <a:rPr sz="1725" b="1" i="0">
                <a:solidFill>
                  <a:srgbClr val="15231C"/>
                </a:solidFill>
              </a:rPr>
              <a:t>观测信息不足：变量退化</a:t>
            </a:r>
          </a:p>
        </p:txBody>
      </p:sp>
      <p:sp>
        <p:nvSpPr>
          <p:cNvPr id="10" name="s13-copy-0">
            <a:extLst>
              <a:ext uri="{FF2B5EF4-FFF2-40B4-BE49-F238E27FC236}">
                <a16:creationId xmlns:a16="http://schemas.microsoft.com/office/drawing/2014/main" id="{C568ACB7-B2DD-4265-BD4B-E3B8F25522D6}"/>
              </a:ext>
            </a:extLst>
          </p:cNvPr>
          <p:cNvSpPr>
            <a:spLocks noGrp="1"/>
          </p:cNvSpPr>
          <p:nvPr/>
        </p:nvSpPr>
        <p:spPr>
          <a:xfrm>
            <a:off x="1943100" y="2324100"/>
            <a:ext cx="929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 i="0">
                <a:solidFill>
                  <a:srgbClr val="6F786F"/>
                </a:solidFill>
              </a:defRPr>
            </a:pPr>
            <a:r>
              <a:rPr sz="1350" b="0" i="0">
                <a:solidFill>
                  <a:srgbClr val="6F786F"/>
                </a:solidFill>
              </a:rPr>
              <a:t>u-fit：89%–92% 丢弃 ξ；ψ-A：60%；加入 v 监督的 ψ-B：33%。</a:t>
            </a:r>
          </a:p>
        </p:txBody>
      </p:sp>
      <p:sp>
        <p:nvSpPr>
          <p:cNvPr id="11" name="s13-hrule-0">
            <a:extLst>
              <a:ext uri="{FF2B5EF4-FFF2-40B4-BE49-F238E27FC236}">
                <a16:creationId xmlns:a16="http://schemas.microsoft.com/office/drawing/2014/main" id="{7B5D78F8-E0D7-4756-BEE6-92FFEE32BD85}"/>
              </a:ext>
            </a:extLst>
          </p:cNvPr>
          <p:cNvSpPr>
            <a:spLocks noGrp="1"/>
          </p:cNvSpPr>
          <p:nvPr/>
        </p:nvSpPr>
        <p:spPr>
          <a:xfrm>
            <a:off x="742950" y="2933700"/>
            <a:ext cx="10496550" cy="9525"/>
          </a:xfrm>
          <a:prstGeom prst="rect">
            <a:avLst/>
          </a:prstGeom>
          <a:solidFill>
            <a:srgbClr val="E9E4D9"/>
          </a:solidFill>
          <a:ln w="0">
            <a:solidFill>
              <a:srgbClr val="E9E4D9"/>
            </a:solidFill>
            <a:prstDash val="solid"/>
          </a:ln>
        </p:spPr>
      </p:sp>
      <p:sp>
        <p:nvSpPr>
          <p:cNvPr id="12" name="s13-num-1">
            <a:extLst>
              <a:ext uri="{FF2B5EF4-FFF2-40B4-BE49-F238E27FC236}">
                <a16:creationId xmlns:a16="http://schemas.microsoft.com/office/drawing/2014/main" id="{5159FDD9-F8B6-4C4F-8AAB-15FA1B13715E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72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850" b="1" i="0">
                <a:solidFill>
                  <a:srgbClr val="1F5A49"/>
                </a:solidFill>
              </a:defRPr>
            </a:pPr>
            <a:r>
              <a:rPr sz="2850" b="1" i="0">
                <a:solidFill>
                  <a:srgbClr val="1F5A49"/>
                </a:solidFill>
              </a:rPr>
              <a:t>02</a:t>
            </a:r>
          </a:p>
        </p:txBody>
      </p:sp>
      <p:sp>
        <p:nvSpPr>
          <p:cNvPr id="13" name="s13-vrule-1">
            <a:extLst>
              <a:ext uri="{FF2B5EF4-FFF2-40B4-BE49-F238E27FC236}">
                <a16:creationId xmlns:a16="http://schemas.microsoft.com/office/drawing/2014/main" id="{027EAD26-95D7-4CEE-A189-5908D8585DFC}"/>
              </a:ext>
            </a:extLst>
          </p:cNvPr>
          <p:cNvSpPr>
            <a:spLocks noGrp="1"/>
          </p:cNvSpPr>
          <p:nvPr/>
        </p:nvSpPr>
        <p:spPr>
          <a:xfrm>
            <a:off x="1619250" y="3200400"/>
            <a:ext cx="19050" cy="876300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14" name="s13-head-1">
            <a:extLst>
              <a:ext uri="{FF2B5EF4-FFF2-40B4-BE49-F238E27FC236}">
                <a16:creationId xmlns:a16="http://schemas.microsoft.com/office/drawing/2014/main" id="{CD29B6D3-E616-4378-9E34-5739DCBF7FB7}"/>
              </a:ext>
            </a:extLst>
          </p:cNvPr>
          <p:cNvSpPr>
            <a:spLocks noGrp="1"/>
          </p:cNvSpPr>
          <p:nvPr/>
        </p:nvSpPr>
        <p:spPr>
          <a:xfrm>
            <a:off x="1943100" y="31813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725" b="1" i="0">
                <a:solidFill>
                  <a:srgbClr val="15231C"/>
                </a:solidFill>
              </a:defRPr>
            </a:pPr>
            <a:r>
              <a:rPr sz="1725" b="1" i="0">
                <a:solidFill>
                  <a:srgbClr val="15231C"/>
                </a:solidFill>
              </a:rPr>
              <a:t>模型结构不匹配：守恒只能近似满足</a:t>
            </a:r>
          </a:p>
        </p:txBody>
      </p:sp>
      <p:sp>
        <p:nvSpPr>
          <p:cNvPr id="15" name="s13-copy-1">
            <a:extLst>
              <a:ext uri="{FF2B5EF4-FFF2-40B4-BE49-F238E27FC236}">
                <a16:creationId xmlns:a16="http://schemas.microsoft.com/office/drawing/2014/main" id="{A39BAD11-6EBF-4AC9-9503-2A22BA0F582B}"/>
              </a:ext>
            </a:extLst>
          </p:cNvPr>
          <p:cNvSpPr>
            <a:spLocks noGrp="1"/>
          </p:cNvSpPr>
          <p:nvPr/>
        </p:nvSpPr>
        <p:spPr>
          <a:xfrm>
            <a:off x="1943100" y="3638550"/>
            <a:ext cx="929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 i="0">
                <a:solidFill>
                  <a:srgbClr val="6F786F"/>
                </a:solidFill>
              </a:defRPr>
            </a:pPr>
            <a:r>
              <a:rPr sz="1350" b="0" i="0">
                <a:solidFill>
                  <a:srgbClr val="6F786F"/>
                </a:solidFill>
              </a:rPr>
              <a:t>直接拟合 u 的散度 RMS 为 0.15–0.20；流函数模型满足 ∇·u ≡ 0。</a:t>
            </a:r>
          </a:p>
        </p:txBody>
      </p:sp>
      <p:sp>
        <p:nvSpPr>
          <p:cNvPr id="16" name="s13-hrule-1">
            <a:extLst>
              <a:ext uri="{FF2B5EF4-FFF2-40B4-BE49-F238E27FC236}">
                <a16:creationId xmlns:a16="http://schemas.microsoft.com/office/drawing/2014/main" id="{4BF2A5A6-2BCA-4F3A-ABEA-5B87B9E7787C}"/>
              </a:ext>
            </a:extLst>
          </p:cNvPr>
          <p:cNvSpPr>
            <a:spLocks noGrp="1"/>
          </p:cNvSpPr>
          <p:nvPr/>
        </p:nvSpPr>
        <p:spPr>
          <a:xfrm>
            <a:off x="742950" y="4248150"/>
            <a:ext cx="10496550" cy="9525"/>
          </a:xfrm>
          <a:prstGeom prst="rect">
            <a:avLst/>
          </a:prstGeom>
          <a:solidFill>
            <a:srgbClr val="E9E4D9"/>
          </a:solidFill>
          <a:ln w="0">
            <a:solidFill>
              <a:srgbClr val="E9E4D9"/>
            </a:solidFill>
            <a:prstDash val="solid"/>
          </a:ln>
        </p:spPr>
      </p:sp>
      <p:sp>
        <p:nvSpPr>
          <p:cNvPr id="17" name="s13-num-2">
            <a:extLst>
              <a:ext uri="{FF2B5EF4-FFF2-40B4-BE49-F238E27FC236}">
                <a16:creationId xmlns:a16="http://schemas.microsoft.com/office/drawing/2014/main" id="{A7174ED2-C4EE-44AD-814F-D60D9F7BCD5C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72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850" b="1" i="0">
                <a:solidFill>
                  <a:srgbClr val="C75B3D"/>
                </a:solidFill>
              </a:defRPr>
            </a:pPr>
            <a:r>
              <a:rPr sz="2850" b="1" i="0">
                <a:solidFill>
                  <a:srgbClr val="C75B3D"/>
                </a:solidFill>
              </a:rPr>
              <a:t>03</a:t>
            </a:r>
          </a:p>
        </p:txBody>
      </p:sp>
      <p:sp>
        <p:nvSpPr>
          <p:cNvPr id="18" name="s13-vrule-2">
            <a:extLst>
              <a:ext uri="{FF2B5EF4-FFF2-40B4-BE49-F238E27FC236}">
                <a16:creationId xmlns:a16="http://schemas.microsoft.com/office/drawing/2014/main" id="{BAF8B953-E1E9-4B04-9AE0-286518A52834}"/>
              </a:ext>
            </a:extLst>
          </p:cNvPr>
          <p:cNvSpPr>
            <a:spLocks noGrp="1"/>
          </p:cNvSpPr>
          <p:nvPr/>
        </p:nvSpPr>
        <p:spPr>
          <a:xfrm>
            <a:off x="1619250" y="4514850"/>
            <a:ext cx="19050" cy="876300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19" name="s13-head-2">
            <a:extLst>
              <a:ext uri="{FF2B5EF4-FFF2-40B4-BE49-F238E27FC236}">
                <a16:creationId xmlns:a16="http://schemas.microsoft.com/office/drawing/2014/main" id="{98C847F9-1DC3-4BD4-B36E-70D5D85C1344}"/>
              </a:ext>
            </a:extLst>
          </p:cNvPr>
          <p:cNvSpPr>
            <a:spLocks noGrp="1"/>
          </p:cNvSpPr>
          <p:nvPr/>
        </p:nvSpPr>
        <p:spPr>
          <a:xfrm>
            <a:off x="1943100" y="44958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725" b="1" i="0">
                <a:solidFill>
                  <a:srgbClr val="15231C"/>
                </a:solidFill>
              </a:defRPr>
            </a:pPr>
            <a:r>
              <a:rPr sz="1725" b="1" i="0">
                <a:solidFill>
                  <a:srgbClr val="15231C"/>
                </a:solidFill>
              </a:rPr>
              <a:t>训练目标不匹配：场值准确但导数错误</a:t>
            </a:r>
          </a:p>
        </p:txBody>
      </p:sp>
      <p:sp>
        <p:nvSpPr>
          <p:cNvPr id="20" name="s13-copy-2">
            <a:extLst>
              <a:ext uri="{FF2B5EF4-FFF2-40B4-BE49-F238E27FC236}">
                <a16:creationId xmlns:a16="http://schemas.microsoft.com/office/drawing/2014/main" id="{EB2CDB15-ED47-4AFC-BB27-6915B3D4ED06}"/>
              </a:ext>
            </a:extLst>
          </p:cNvPr>
          <p:cNvSpPr>
            <a:spLocks noGrp="1"/>
          </p:cNvSpPr>
          <p:nvPr/>
        </p:nvSpPr>
        <p:spPr>
          <a:xfrm>
            <a:off x="1943100" y="4953000"/>
            <a:ext cx="929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 i="0">
                <a:solidFill>
                  <a:srgbClr val="6F786F"/>
                </a:solidFill>
              </a:defRPr>
            </a:pPr>
            <a:r>
              <a:rPr sz="1350" b="0" i="0">
                <a:solidFill>
                  <a:srgbClr val="6F786F"/>
                </a:solidFill>
              </a:rPr>
              <a:t>MLP 场值 MSE 改善约 544 倍，梯度仅改善约 3 倍；闭合误差仍约 15.4%。</a:t>
            </a:r>
          </a:p>
        </p:txBody>
      </p:sp>
      <p:sp>
        <p:nvSpPr>
          <p:cNvPr id="21" name="s13-box">
            <a:extLst>
              <a:ext uri="{FF2B5EF4-FFF2-40B4-BE49-F238E27FC236}">
                <a16:creationId xmlns:a16="http://schemas.microsoft.com/office/drawing/2014/main" id="{BD4ECEF1-FCD8-4BD6-884E-9C1903CD27EE}"/>
              </a:ext>
            </a:extLst>
          </p:cNvPr>
          <p:cNvSpPr>
            <a:spLocks noGrp="1"/>
          </p:cNvSpPr>
          <p:nvPr/>
        </p:nvSpPr>
        <p:spPr>
          <a:xfrm>
            <a:off x="2381250" y="5753100"/>
            <a:ext cx="7429500" cy="476250"/>
          </a:xfrm>
          <a:prstGeom prst="rect">
            <a:avLst/>
          </a:prstGeom>
          <a:solidFill>
            <a:srgbClr val="E4EAE3"/>
          </a:solidFill>
          <a:ln w="0">
            <a:solidFill>
              <a:srgbClr val="E4EAE3"/>
            </a:solidFill>
            <a:prstDash val="solid"/>
          </a:ln>
        </p:spPr>
      </p:sp>
      <p:sp>
        <p:nvSpPr>
          <p:cNvPr id="22" name="s13-box-copy">
            <a:extLst>
              <a:ext uri="{FF2B5EF4-FFF2-40B4-BE49-F238E27FC236}">
                <a16:creationId xmlns:a16="http://schemas.microsoft.com/office/drawing/2014/main" id="{E90DAEE8-4852-466C-854A-328785FDA8B7}"/>
              </a:ext>
            </a:extLst>
          </p:cNvPr>
          <p:cNvSpPr>
            <a:spLocks noGrp="1"/>
          </p:cNvSpPr>
          <p:nvPr/>
        </p:nvSpPr>
        <p:spPr>
          <a:xfrm>
            <a:off x="2628900" y="5867400"/>
            <a:ext cx="6934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1575" b="1" i="0">
                <a:solidFill>
                  <a:srgbClr val="1F5A49"/>
                </a:solidFill>
              </a:defRPr>
            </a:pPr>
            <a:r>
              <a:rPr sz="1575" b="1" i="0">
                <a:solidFill>
                  <a:srgbClr val="1F5A49"/>
                </a:solidFill>
              </a:rPr>
              <a:t>观测算子  +  假设空间  +  优化目标  之间不匹配</a:t>
            </a:r>
          </a:p>
        </p:txBody>
      </p:sp>
    </p:spTree>
    <p:extLst>
      <p:ext uri="{BB962C8B-B14F-4D97-AF65-F5344CB8AC3E}">
        <p14:creationId xmlns:p14="http://schemas.microsoft.com/office/powerpoint/2010/main" val="343259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5">
            <a:extLst>
              <a:ext uri="{FF2B5EF4-FFF2-40B4-BE49-F238E27FC236}">
                <a16:creationId xmlns:a16="http://schemas.microsoft.com/office/drawing/2014/main" id="{26173472-DDB9-4575-BE63-1B567E25F52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3000" b="1" i="0">
                <a:solidFill>
                  <a:srgbClr val="15231C"/>
                </a:solidFill>
              </a:defRPr>
            </a:pPr>
            <a:r>
              <a:rPr sz="3000" b="1" i="0">
                <a:solidFill>
                  <a:srgbClr val="15231C"/>
                </a:solidFill>
              </a:rPr>
              <a:t>微分观测算子的零空间导致变量退化</a:t>
            </a:r>
          </a:p>
        </p:txBody>
      </p:sp>
      <p:sp>
        <p:nvSpPr>
          <p:cNvPr id="3" name="title-rule-15">
            <a:extLst>
              <a:ext uri="{FF2B5EF4-FFF2-40B4-BE49-F238E27FC236}">
                <a16:creationId xmlns:a16="http://schemas.microsoft.com/office/drawing/2014/main" id="{85C166A4-C75E-4DF5-8F56-3393DAB75C88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104900" cy="38100"/>
          </a:xfrm>
          <a:prstGeom prst="rect">
            <a:avLst/>
          </a:prstGeom>
          <a:solidFill>
            <a:srgbClr val="1F5A49"/>
          </a:solidFill>
          <a:ln w="0">
            <a:solidFill>
              <a:srgbClr val="1F5A49"/>
            </a:solidFill>
            <a:prstDash val="solid"/>
          </a:ln>
        </p:spPr>
      </p:sp>
      <p:sp>
        <p:nvSpPr>
          <p:cNvPr id="4" name="footer-rule-15">
            <a:extLst>
              <a:ext uri="{FF2B5EF4-FFF2-40B4-BE49-F238E27FC236}">
                <a16:creationId xmlns:a16="http://schemas.microsoft.com/office/drawing/2014/main" id="{E097D85B-A65B-483B-A597-3D6B9678C39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6" name="footer-page-15">
            <a:extLst>
              <a:ext uri="{FF2B5EF4-FFF2-40B4-BE49-F238E27FC236}">
                <a16:creationId xmlns:a16="http://schemas.microsoft.com/office/drawing/2014/main" id="{DAAB3C3D-66F5-4787-B473-9055BE07624A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975" b="0" i="0">
                <a:solidFill>
                  <a:srgbClr val="6F786F"/>
                </a:solidFill>
              </a:defRPr>
            </a:pPr>
            <a:r>
              <a:rPr sz="975" b="0" i="0">
                <a:solidFill>
                  <a:srgbClr val="6F786F"/>
                </a:solidFill>
              </a:rPr>
              <a:t>15</a:t>
            </a:r>
          </a:p>
        </p:txBody>
      </p:sp>
      <p:sp>
        <p:nvSpPr>
          <p:cNvPr id="7" name="s15-left-label">
            <a:extLst>
              <a:ext uri="{FF2B5EF4-FFF2-40B4-BE49-F238E27FC236}">
                <a16:creationId xmlns:a16="http://schemas.microsoft.com/office/drawing/2014/main" id="{48C93E8A-0236-4FA8-B382-BC7F980A098E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500" b="1" i="0">
                <a:solidFill>
                  <a:srgbClr val="C75B3D"/>
                </a:solidFill>
              </a:defRPr>
            </a:pPr>
            <a:r>
              <a:rPr sz="1500" b="1" i="0">
                <a:solidFill>
                  <a:srgbClr val="C75B3D"/>
                </a:solidFill>
              </a:rPr>
              <a:t>只观察 u</a:t>
            </a:r>
          </a:p>
        </p:txBody>
      </p:sp>
      <p:sp>
        <p:nvSpPr>
          <p:cNvPr id="8" name="s15-left-eq">
            <a:extLst>
              <a:ext uri="{FF2B5EF4-FFF2-40B4-BE49-F238E27FC236}">
                <a16:creationId xmlns:a16="http://schemas.microsoft.com/office/drawing/2014/main" id="{2C1B6EF3-30EC-45BD-8E08-87888D45E097}"/>
              </a:ext>
            </a:extLst>
          </p:cNvPr>
          <p:cNvSpPr>
            <a:spLocks noGrp="1"/>
          </p:cNvSpPr>
          <p:nvPr/>
        </p:nvSpPr>
        <p:spPr>
          <a:xfrm>
            <a:off x="819150" y="2324100"/>
            <a:ext cx="4572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45000"/>
              </a:lnSpc>
              <a:buNone/>
              <a:defRPr sz="2175" b="1" i="0">
                <a:solidFill>
                  <a:srgbClr val="15231C"/>
                </a:solidFill>
              </a:defRPr>
            </a:pPr>
            <a:r>
              <a:rPr sz="2175" b="1" i="0">
                <a:solidFill>
                  <a:srgbClr val="15231C"/>
                </a:solidFill>
              </a:rPr>
              <a:t>Oᵤψ = ∂ψ/∂η</a:t>
            </a:r>
          </a:p>
          <a:p>
            <a:pPr algn="l">
              <a:lnSpc>
                <a:spcPct val="145000"/>
              </a:lnSpc>
              <a:buNone/>
              <a:defRPr sz="2175" b="1" i="0">
                <a:solidFill>
                  <a:srgbClr val="15231C"/>
                </a:solidFill>
              </a:defRPr>
            </a:pPr>
            <a:r>
              <a:rPr sz="2175" b="1" i="0">
                <a:solidFill>
                  <a:srgbClr val="15231C"/>
                </a:solidFill>
              </a:rPr>
              <a:t>ker Oᵤ = { h(ξ) }</a:t>
            </a:r>
          </a:p>
        </p:txBody>
      </p:sp>
      <p:sp>
        <p:nvSpPr>
          <p:cNvPr id="9" name="s15-left-copy">
            <a:extLst>
              <a:ext uri="{FF2B5EF4-FFF2-40B4-BE49-F238E27FC236}">
                <a16:creationId xmlns:a16="http://schemas.microsoft.com/office/drawing/2014/main" id="{4B5B2C07-3A0E-4BDB-ADEC-948457077478}"/>
              </a:ext>
            </a:extLst>
          </p:cNvPr>
          <p:cNvSpPr>
            <a:spLocks noGrp="1"/>
          </p:cNvSpPr>
          <p:nvPr/>
        </p:nvSpPr>
        <p:spPr>
          <a:xfrm>
            <a:off x="838200" y="3619500"/>
            <a:ext cx="4667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8000"/>
              </a:lnSpc>
              <a:buNone/>
              <a:defRPr sz="1575" b="0" i="0">
                <a:solidFill>
                  <a:srgbClr val="15231C"/>
                </a:solidFill>
              </a:defRPr>
            </a:pPr>
            <a:r>
              <a:rPr sz="1575" b="0" i="0">
                <a:solidFill>
                  <a:srgbClr val="15231C"/>
                </a:solidFill>
              </a:rPr>
              <a:t>ψ 与 ψ + h(ξ) 产生完全相同的 u。</a:t>
            </a:r>
          </a:p>
          <a:p>
            <a:pPr algn="l">
              <a:lnSpc>
                <a:spcPct val="138000"/>
              </a:lnSpc>
              <a:buNone/>
              <a:defRPr sz="1575" b="0" i="0">
                <a:solidFill>
                  <a:srgbClr val="15231C"/>
                </a:solidFill>
              </a:defRPr>
            </a:pPr>
            <a:r>
              <a:rPr sz="1575" b="0" i="0">
                <a:solidFill>
                  <a:srgbClr val="15231C"/>
                </a:solidFill>
              </a:rPr>
              <a:t>增加更多 u 数据仍无法区分。</a:t>
            </a:r>
          </a:p>
        </p:txBody>
      </p:sp>
      <p:sp>
        <p:nvSpPr>
          <p:cNvPr id="10" name="s15-divider">
            <a:extLst>
              <a:ext uri="{FF2B5EF4-FFF2-40B4-BE49-F238E27FC236}">
                <a16:creationId xmlns:a16="http://schemas.microsoft.com/office/drawing/2014/main" id="{01656C00-8305-4DD0-9A83-623F1AFFA3FD}"/>
              </a:ext>
            </a:extLst>
          </p:cNvPr>
          <p:cNvSpPr>
            <a:spLocks noGrp="1"/>
          </p:cNvSpPr>
          <p:nvPr/>
        </p:nvSpPr>
        <p:spPr>
          <a:xfrm>
            <a:off x="5924550" y="1790700"/>
            <a:ext cx="19050" cy="3352800"/>
          </a:xfrm>
          <a:prstGeom prst="rect">
            <a:avLst/>
          </a:prstGeom>
          <a:solidFill>
            <a:srgbClr val="BFCFC2"/>
          </a:solidFill>
          <a:ln w="0">
            <a:solidFill>
              <a:srgbClr val="BFCFC2"/>
            </a:solidFill>
            <a:prstDash val="solid"/>
          </a:ln>
        </p:spPr>
      </p:sp>
      <p:sp>
        <p:nvSpPr>
          <p:cNvPr id="11" name="s15-right-label">
            <a:extLst>
              <a:ext uri="{FF2B5EF4-FFF2-40B4-BE49-F238E27FC236}">
                <a16:creationId xmlns:a16="http://schemas.microsoft.com/office/drawing/2014/main" id="{639CDBC4-0E0C-45B9-890B-8678EF84ED19}"/>
              </a:ext>
            </a:extLst>
          </p:cNvPr>
          <p:cNvSpPr>
            <a:spLocks noGrp="1"/>
          </p:cNvSpPr>
          <p:nvPr/>
        </p:nvSpPr>
        <p:spPr>
          <a:xfrm>
            <a:off x="6419850" y="18669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500" b="1" i="0">
                <a:solidFill>
                  <a:srgbClr val="1F5A49"/>
                </a:solidFill>
              </a:defRPr>
            </a:pPr>
            <a:r>
              <a:rPr sz="1500" b="1" i="0">
                <a:solidFill>
                  <a:srgbClr val="1F5A49"/>
                </a:solidFill>
              </a:rPr>
              <a:t>同时观察 u + v</a:t>
            </a:r>
          </a:p>
        </p:txBody>
      </p:sp>
      <p:sp>
        <p:nvSpPr>
          <p:cNvPr id="12" name="s15-right-eq">
            <a:extLst>
              <a:ext uri="{FF2B5EF4-FFF2-40B4-BE49-F238E27FC236}">
                <a16:creationId xmlns:a16="http://schemas.microsoft.com/office/drawing/2014/main" id="{949F9D0B-5D78-41BB-9AA7-831EB822F8C4}"/>
              </a:ext>
            </a:extLst>
          </p:cNvPr>
          <p:cNvSpPr>
            <a:spLocks noGrp="1"/>
          </p:cNvSpPr>
          <p:nvPr/>
        </p:nvSpPr>
        <p:spPr>
          <a:xfrm>
            <a:off x="6438900" y="232410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45000"/>
              </a:lnSpc>
              <a:buNone/>
              <a:defRPr sz="2100" b="1" i="0">
                <a:solidFill>
                  <a:srgbClr val="15231C"/>
                </a:solidFill>
              </a:defRPr>
            </a:pPr>
            <a:r>
              <a:rPr sz="2100" b="1" i="0">
                <a:solidFill>
                  <a:srgbClr val="15231C"/>
                </a:solidFill>
              </a:rPr>
              <a:t>Oᵤᵥψ = ( ∂ψ/∂η, −∂ψ/∂ξ )</a:t>
            </a:r>
          </a:p>
          <a:p>
            <a:pPr algn="l">
              <a:lnSpc>
                <a:spcPct val="145000"/>
              </a:lnSpc>
              <a:buNone/>
              <a:defRPr sz="2100" b="1" i="0">
                <a:solidFill>
                  <a:srgbClr val="15231C"/>
                </a:solidFill>
              </a:defRPr>
            </a:pPr>
            <a:r>
              <a:rPr sz="2100" b="1" i="0">
                <a:solidFill>
                  <a:srgbClr val="15231C"/>
                </a:solidFill>
              </a:rPr>
              <a:t>ker Oᵤᵥ = { C }</a:t>
            </a:r>
          </a:p>
        </p:txBody>
      </p:sp>
      <p:sp>
        <p:nvSpPr>
          <p:cNvPr id="13" name="s15-right-copy">
            <a:extLst>
              <a:ext uri="{FF2B5EF4-FFF2-40B4-BE49-F238E27FC236}">
                <a16:creationId xmlns:a16="http://schemas.microsoft.com/office/drawing/2014/main" id="{1D75EA2B-B0EB-42C8-9B5F-AB037A41F7AF}"/>
              </a:ext>
            </a:extLst>
          </p:cNvPr>
          <p:cNvSpPr>
            <a:spLocks noGrp="1"/>
          </p:cNvSpPr>
          <p:nvPr/>
        </p:nvSpPr>
        <p:spPr>
          <a:xfrm>
            <a:off x="6457950" y="3619500"/>
            <a:ext cx="476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8000"/>
              </a:lnSpc>
              <a:buNone/>
              <a:defRPr sz="1575" b="0" i="0">
                <a:solidFill>
                  <a:srgbClr val="15231C"/>
                </a:solidFill>
              </a:defRPr>
            </a:pPr>
            <a:r>
              <a:rPr sz="1575" b="0" i="0">
                <a:solidFill>
                  <a:srgbClr val="15231C"/>
                </a:solidFill>
              </a:rPr>
              <a:t>完整速度观测只留下常数规范自由度，</a:t>
            </a:r>
          </a:p>
          <a:p>
            <a:pPr algn="l">
              <a:lnSpc>
                <a:spcPct val="138000"/>
              </a:lnSpc>
              <a:buNone/>
              <a:defRPr sz="1575" b="0" i="0">
                <a:solidFill>
                  <a:srgbClr val="15231C"/>
                </a:solidFill>
              </a:defRPr>
            </a:pPr>
            <a:r>
              <a:rPr sz="1575" b="0" i="0">
                <a:solidFill>
                  <a:srgbClr val="15231C"/>
                </a:solidFill>
              </a:rPr>
              <a:t>对实际速度场没有物理影响。</a:t>
            </a:r>
          </a:p>
        </p:txBody>
      </p:sp>
      <p:sp>
        <p:nvSpPr>
          <p:cNvPr id="14" name="s15-callout-bg">
            <a:extLst>
              <a:ext uri="{FF2B5EF4-FFF2-40B4-BE49-F238E27FC236}">
                <a16:creationId xmlns:a16="http://schemas.microsoft.com/office/drawing/2014/main" id="{7FF8C784-A418-4E1F-AF94-36ACDF213110}"/>
              </a:ext>
            </a:extLst>
          </p:cNvPr>
          <p:cNvSpPr>
            <a:spLocks noGrp="1"/>
          </p:cNvSpPr>
          <p:nvPr/>
        </p:nvSpPr>
        <p:spPr>
          <a:xfrm>
            <a:off x="1409700" y="5105400"/>
            <a:ext cx="9372600" cy="762000"/>
          </a:xfrm>
          <a:prstGeom prst="rect">
            <a:avLst/>
          </a:prstGeom>
          <a:solidFill>
            <a:srgbClr val="E4EAE3"/>
          </a:solidFill>
          <a:ln w="0">
            <a:solidFill>
              <a:srgbClr val="E4EAE3"/>
            </a:solidFill>
            <a:prstDash val="solid"/>
          </a:ln>
        </p:spPr>
      </p:sp>
      <p:sp>
        <p:nvSpPr>
          <p:cNvPr id="15" name="s15-callout">
            <a:extLst>
              <a:ext uri="{FF2B5EF4-FFF2-40B4-BE49-F238E27FC236}">
                <a16:creationId xmlns:a16="http://schemas.microsoft.com/office/drawing/2014/main" id="{97D90D6E-DFAB-45A4-8973-A0E1AE9D9B7D}"/>
              </a:ext>
            </a:extLst>
          </p:cNvPr>
          <p:cNvSpPr>
            <a:spLocks noGrp="1"/>
          </p:cNvSpPr>
          <p:nvPr/>
        </p:nvSpPr>
        <p:spPr>
          <a:xfrm>
            <a:off x="1752600" y="5286375"/>
            <a:ext cx="868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1875" b="1" i="0">
                <a:solidFill>
                  <a:srgbClr val="1F5A49"/>
                </a:solidFill>
              </a:defRPr>
            </a:pPr>
            <a:r>
              <a:rPr sz="1875" b="1" i="0">
                <a:solidFill>
                  <a:srgbClr val="1F5A49"/>
                </a:solidFill>
              </a:rPr>
              <a:t>增加同类数据不能自动消除结构零空间，必须改变观测算子。</a:t>
            </a:r>
          </a:p>
        </p:txBody>
      </p:sp>
    </p:spTree>
    <p:extLst>
      <p:ext uri="{BB962C8B-B14F-4D97-AF65-F5344CB8AC3E}">
        <p14:creationId xmlns:p14="http://schemas.microsoft.com/office/powerpoint/2010/main" val="1975760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6">
            <a:extLst>
              <a:ext uri="{FF2B5EF4-FFF2-40B4-BE49-F238E27FC236}">
                <a16:creationId xmlns:a16="http://schemas.microsoft.com/office/drawing/2014/main" id="{A576E7B4-ABB5-42E8-BBF7-CE37EA3555B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2700" b="1" i="0">
                <a:solidFill>
                  <a:srgbClr val="F8F6F1"/>
                </a:solidFill>
              </a:defRPr>
            </a:pPr>
            <a:r>
              <a:rPr sz="2700" b="1" i="0">
                <a:solidFill>
                  <a:srgbClr val="F8F6F1"/>
                </a:solidFill>
              </a:rPr>
              <a:t>可靠的符号模型，需要同时设计观测、结构与训练目标</a:t>
            </a:r>
          </a:p>
        </p:txBody>
      </p:sp>
      <p:sp>
        <p:nvSpPr>
          <p:cNvPr id="3" name="title-rule-16">
            <a:extLst>
              <a:ext uri="{FF2B5EF4-FFF2-40B4-BE49-F238E27FC236}">
                <a16:creationId xmlns:a16="http://schemas.microsoft.com/office/drawing/2014/main" id="{1EBF2B90-0E69-4BCF-ABD5-2B179839D96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104900" cy="38100"/>
          </a:xfrm>
          <a:prstGeom prst="rect">
            <a:avLst/>
          </a:prstGeom>
          <a:solidFill>
            <a:srgbClr val="D0E1D9"/>
          </a:solidFill>
          <a:ln w="0">
            <a:solidFill>
              <a:srgbClr val="D0E1D9"/>
            </a:solidFill>
            <a:prstDash val="solid"/>
          </a:ln>
        </p:spPr>
      </p:sp>
      <p:sp>
        <p:nvSpPr>
          <p:cNvPr id="4" name="footer-rule-16">
            <a:extLst>
              <a:ext uri="{FF2B5EF4-FFF2-40B4-BE49-F238E27FC236}">
                <a16:creationId xmlns:a16="http://schemas.microsoft.com/office/drawing/2014/main" id="{0ED305C4-5B2F-4BA8-AE92-FACE7EACD30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5E7F74"/>
          </a:solidFill>
          <a:ln w="0">
            <a:solidFill>
              <a:srgbClr val="5E7F74"/>
            </a:solidFill>
            <a:prstDash val="solid"/>
          </a:ln>
        </p:spPr>
      </p:sp>
      <p:sp>
        <p:nvSpPr>
          <p:cNvPr id="6" name="footer-page-16">
            <a:extLst>
              <a:ext uri="{FF2B5EF4-FFF2-40B4-BE49-F238E27FC236}">
                <a16:creationId xmlns:a16="http://schemas.microsoft.com/office/drawing/2014/main" id="{46C771CD-A83B-466E-989D-0A5CEA723A99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8000"/>
              </a:lnSpc>
              <a:buNone/>
              <a:defRPr sz="975" b="0" i="0">
                <a:solidFill>
                  <a:srgbClr val="D5E0DB"/>
                </a:solidFill>
              </a:defRPr>
            </a:pPr>
            <a:r>
              <a:rPr sz="975" b="0" i="0">
                <a:solidFill>
                  <a:srgbClr val="D5E0DB"/>
                </a:solidFill>
              </a:rPr>
              <a:t>16</a:t>
            </a:r>
          </a:p>
        </p:txBody>
      </p:sp>
      <p:sp>
        <p:nvSpPr>
          <p:cNvPr id="7" name="s16-num-0">
            <a:extLst>
              <a:ext uri="{FF2B5EF4-FFF2-40B4-BE49-F238E27FC236}">
                <a16:creationId xmlns:a16="http://schemas.microsoft.com/office/drawing/2014/main" id="{160AF244-F404-4E26-8A07-9BF4DAE0B612}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250" b="1" i="0">
                <a:solidFill>
                  <a:srgbClr val="F39A72"/>
                </a:solidFill>
              </a:defRPr>
            </a:pPr>
            <a:r>
              <a:rPr sz="2250" b="1" i="0">
                <a:solidFill>
                  <a:srgbClr val="F39A72"/>
                </a:solidFill>
              </a:rPr>
              <a:t>01</a:t>
            </a:r>
          </a:p>
        </p:txBody>
      </p:sp>
      <p:sp>
        <p:nvSpPr>
          <p:cNvPr id="8" name="s16-label-0">
            <a:extLst>
              <a:ext uri="{FF2B5EF4-FFF2-40B4-BE49-F238E27FC236}">
                <a16:creationId xmlns:a16="http://schemas.microsoft.com/office/drawing/2014/main" id="{BD815936-ED02-44A2-B39C-C68E4391517F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875" b="1" i="0">
                <a:solidFill>
                  <a:srgbClr val="F8F6F1"/>
                </a:solidFill>
              </a:defRPr>
            </a:pPr>
            <a:r>
              <a:rPr sz="1875" b="1" i="0">
                <a:solidFill>
                  <a:srgbClr val="F8F6F1"/>
                </a:solidFill>
              </a:rPr>
              <a:t>可辨识的观测</a:t>
            </a:r>
          </a:p>
        </p:txBody>
      </p:sp>
      <p:sp>
        <p:nvSpPr>
          <p:cNvPr id="9" name="s16-rule-0">
            <a:extLst>
              <a:ext uri="{FF2B5EF4-FFF2-40B4-BE49-F238E27FC236}">
                <a16:creationId xmlns:a16="http://schemas.microsoft.com/office/drawing/2014/main" id="{72FE15A8-B664-4377-BABD-B531EC185A56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838200" cy="28575"/>
          </a:xfrm>
          <a:prstGeom prst="rect">
            <a:avLst/>
          </a:prstGeom>
          <a:solidFill>
            <a:srgbClr val="D0E1D9"/>
          </a:solidFill>
          <a:ln w="0">
            <a:solidFill>
              <a:srgbClr val="D0E1D9"/>
            </a:solidFill>
            <a:prstDash val="solid"/>
          </a:ln>
        </p:spPr>
      </p:sp>
      <p:sp>
        <p:nvSpPr>
          <p:cNvPr id="10" name="s16-body-0">
            <a:extLst>
              <a:ext uri="{FF2B5EF4-FFF2-40B4-BE49-F238E27FC236}">
                <a16:creationId xmlns:a16="http://schemas.microsoft.com/office/drawing/2014/main" id="{7BA2339A-30CF-4E64-8967-0B8E8BB83B6B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2857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50000"/>
              </a:lnSpc>
              <a:buNone/>
              <a:defRPr sz="1350" b="0" i="0">
                <a:solidFill>
                  <a:srgbClr val="DDE8E2"/>
                </a:solidFill>
              </a:defRPr>
            </a:pPr>
            <a:r>
              <a:rPr sz="1350" b="0" i="0">
                <a:solidFill>
                  <a:srgbClr val="DDE8E2"/>
                </a:solidFill>
              </a:rPr>
              <a:t>分析观测算子的秩与零空间</a:t>
            </a:r>
          </a:p>
          <a:p>
            <a:pPr algn="l">
              <a:lnSpc>
                <a:spcPct val="150000"/>
              </a:lnSpc>
              <a:buNone/>
              <a:defRPr sz="1350" b="0" i="0">
                <a:solidFill>
                  <a:srgbClr val="DDE8E2"/>
                </a:solidFill>
              </a:defRPr>
            </a:pPr>
            <a:r>
              <a:rPr sz="1350" b="0" i="0">
                <a:solidFill>
                  <a:srgbClr val="DDE8E2"/>
                </a:solidFill>
              </a:rPr>
              <a:t>用 u + v 消除不可观测方向</a:t>
            </a:r>
          </a:p>
          <a:p>
            <a:pPr algn="l">
              <a:lnSpc>
                <a:spcPct val="150000"/>
              </a:lnSpc>
              <a:buNone/>
              <a:defRPr sz="1350" b="0" i="0">
                <a:solidFill>
                  <a:srgbClr val="DDE8E2"/>
                </a:solidFill>
              </a:defRPr>
            </a:pPr>
            <a:r>
              <a:rPr sz="1350" b="0" i="0">
                <a:solidFill>
                  <a:srgbClr val="DDE8E2"/>
                </a:solidFill>
              </a:rPr>
              <a:t>以少量高信息采样提高效率</a:t>
            </a:r>
          </a:p>
        </p:txBody>
      </p:sp>
      <p:sp>
        <p:nvSpPr>
          <p:cNvPr id="11" name="s16-divider-0">
            <a:extLst>
              <a:ext uri="{FF2B5EF4-FFF2-40B4-BE49-F238E27FC236}">
                <a16:creationId xmlns:a16="http://schemas.microsoft.com/office/drawing/2014/main" id="{07EA807C-B9C2-4979-8996-0E8671D51CDA}"/>
              </a:ext>
            </a:extLst>
          </p:cNvPr>
          <p:cNvSpPr>
            <a:spLocks noGrp="1"/>
          </p:cNvSpPr>
          <p:nvPr/>
        </p:nvSpPr>
        <p:spPr>
          <a:xfrm>
            <a:off x="3829050" y="1885950"/>
            <a:ext cx="9525" cy="2724150"/>
          </a:xfrm>
          <a:prstGeom prst="rect">
            <a:avLst/>
          </a:prstGeom>
          <a:solidFill>
            <a:srgbClr val="5E7F74"/>
          </a:solidFill>
          <a:ln w="0">
            <a:solidFill>
              <a:srgbClr val="5E7F74"/>
            </a:solidFill>
            <a:prstDash val="solid"/>
          </a:ln>
        </p:spPr>
      </p:sp>
      <p:sp>
        <p:nvSpPr>
          <p:cNvPr id="12" name="s16-num-1">
            <a:extLst>
              <a:ext uri="{FF2B5EF4-FFF2-40B4-BE49-F238E27FC236}">
                <a16:creationId xmlns:a16="http://schemas.microsoft.com/office/drawing/2014/main" id="{3AABD18F-C051-4F71-A203-CF2E161ED1C8}"/>
              </a:ext>
            </a:extLst>
          </p:cNvPr>
          <p:cNvSpPr>
            <a:spLocks noGrp="1"/>
          </p:cNvSpPr>
          <p:nvPr/>
        </p:nvSpPr>
        <p:spPr>
          <a:xfrm>
            <a:off x="4152900" y="18859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250" b="1" i="0">
                <a:solidFill>
                  <a:srgbClr val="F39A72"/>
                </a:solidFill>
              </a:defRPr>
            </a:pPr>
            <a:r>
              <a:rPr sz="2250" b="1" i="0">
                <a:solidFill>
                  <a:srgbClr val="F39A72"/>
                </a:solidFill>
              </a:rPr>
              <a:t>02</a:t>
            </a:r>
          </a:p>
        </p:txBody>
      </p:sp>
      <p:sp>
        <p:nvSpPr>
          <p:cNvPr id="13" name="s16-label-1">
            <a:extLst>
              <a:ext uri="{FF2B5EF4-FFF2-40B4-BE49-F238E27FC236}">
                <a16:creationId xmlns:a16="http://schemas.microsoft.com/office/drawing/2014/main" id="{16093998-9AF2-42BF-A269-42F5745E455F}"/>
              </a:ext>
            </a:extLst>
          </p:cNvPr>
          <p:cNvSpPr>
            <a:spLocks noGrp="1"/>
          </p:cNvSpPr>
          <p:nvPr/>
        </p:nvSpPr>
        <p:spPr>
          <a:xfrm>
            <a:off x="4152900" y="2381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875" b="1" i="0">
                <a:solidFill>
                  <a:srgbClr val="F8F6F1"/>
                </a:solidFill>
              </a:defRPr>
            </a:pPr>
            <a:r>
              <a:rPr sz="1875" b="1" i="0">
                <a:solidFill>
                  <a:srgbClr val="F8F6F1"/>
                </a:solidFill>
              </a:rPr>
              <a:t>物理一致的结构</a:t>
            </a:r>
          </a:p>
        </p:txBody>
      </p:sp>
      <p:sp>
        <p:nvSpPr>
          <p:cNvPr id="14" name="s16-rule-1">
            <a:extLst>
              <a:ext uri="{FF2B5EF4-FFF2-40B4-BE49-F238E27FC236}">
                <a16:creationId xmlns:a16="http://schemas.microsoft.com/office/drawing/2014/main" id="{89EC086D-4A79-40C4-AE81-21C144F7661C}"/>
              </a:ext>
            </a:extLst>
          </p:cNvPr>
          <p:cNvSpPr>
            <a:spLocks noGrp="1"/>
          </p:cNvSpPr>
          <p:nvPr/>
        </p:nvSpPr>
        <p:spPr>
          <a:xfrm>
            <a:off x="4152900" y="2914650"/>
            <a:ext cx="838200" cy="28575"/>
          </a:xfrm>
          <a:prstGeom prst="rect">
            <a:avLst/>
          </a:prstGeom>
          <a:solidFill>
            <a:srgbClr val="D0E1D9"/>
          </a:solidFill>
          <a:ln w="0">
            <a:solidFill>
              <a:srgbClr val="D0E1D9"/>
            </a:solidFill>
            <a:prstDash val="solid"/>
          </a:ln>
        </p:spPr>
      </p:sp>
      <p:sp>
        <p:nvSpPr>
          <p:cNvPr id="15" name="s16-body-1">
            <a:extLst>
              <a:ext uri="{FF2B5EF4-FFF2-40B4-BE49-F238E27FC236}">
                <a16:creationId xmlns:a16="http://schemas.microsoft.com/office/drawing/2014/main" id="{468FE52D-D9AD-4B17-917A-8B80C98691E9}"/>
              </a:ext>
            </a:extLst>
          </p:cNvPr>
          <p:cNvSpPr>
            <a:spLocks noGrp="1"/>
          </p:cNvSpPr>
          <p:nvPr/>
        </p:nvSpPr>
        <p:spPr>
          <a:xfrm>
            <a:off x="4152900" y="3238500"/>
            <a:ext cx="2857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50000"/>
              </a:lnSpc>
              <a:buNone/>
              <a:defRPr sz="1350" b="0" i="0">
                <a:solidFill>
                  <a:srgbClr val="DDE8E2"/>
                </a:solidFill>
              </a:defRPr>
            </a:pPr>
            <a:r>
              <a:rPr sz="1350" b="0" i="0">
                <a:solidFill>
                  <a:srgbClr val="DDE8E2"/>
                </a:solidFill>
              </a:rPr>
              <a:t>用流函数保证质量守恒</a:t>
            </a:r>
          </a:p>
          <a:p>
            <a:pPr algn="l">
              <a:lnSpc>
                <a:spcPct val="150000"/>
              </a:lnSpc>
              <a:buNone/>
              <a:defRPr sz="1350" b="0" i="0">
                <a:solidFill>
                  <a:srgbClr val="DDE8E2"/>
                </a:solidFill>
              </a:defRPr>
            </a:pPr>
            <a:r>
              <a:rPr sz="1350" b="0" i="0">
                <a:solidFill>
                  <a:srgbClr val="DDE8E2"/>
                </a:solidFill>
              </a:rPr>
              <a:t>严格区分坐标输运 K 与状态响应 M</a:t>
            </a:r>
          </a:p>
          <a:p>
            <a:pPr algn="l">
              <a:lnSpc>
                <a:spcPct val="150000"/>
              </a:lnSpc>
              <a:buNone/>
              <a:defRPr sz="1350" b="0" i="0">
                <a:solidFill>
                  <a:srgbClr val="DDE8E2"/>
                </a:solidFill>
              </a:defRPr>
            </a:pPr>
            <a:r>
              <a:rPr sz="1350" b="0" i="0">
                <a:solidFill>
                  <a:srgbClr val="DDE8E2"/>
                </a:solidFill>
              </a:rPr>
              <a:t>不把冻结场近似当作总灵敏度</a:t>
            </a:r>
          </a:p>
        </p:txBody>
      </p:sp>
      <p:sp>
        <p:nvSpPr>
          <p:cNvPr id="16" name="s16-divider-1">
            <a:extLst>
              <a:ext uri="{FF2B5EF4-FFF2-40B4-BE49-F238E27FC236}">
                <a16:creationId xmlns:a16="http://schemas.microsoft.com/office/drawing/2014/main" id="{2360A9AD-A6D8-4E25-B7F3-BF8AF8CB1932}"/>
              </a:ext>
            </a:extLst>
          </p:cNvPr>
          <p:cNvSpPr>
            <a:spLocks noGrp="1"/>
          </p:cNvSpPr>
          <p:nvPr/>
        </p:nvSpPr>
        <p:spPr>
          <a:xfrm>
            <a:off x="7239000" y="1885950"/>
            <a:ext cx="9525" cy="2724150"/>
          </a:xfrm>
          <a:prstGeom prst="rect">
            <a:avLst/>
          </a:prstGeom>
          <a:solidFill>
            <a:srgbClr val="5E7F74"/>
          </a:solidFill>
          <a:ln w="0">
            <a:solidFill>
              <a:srgbClr val="5E7F74"/>
            </a:solidFill>
            <a:prstDash val="solid"/>
          </a:ln>
        </p:spPr>
      </p:sp>
      <p:sp>
        <p:nvSpPr>
          <p:cNvPr id="17" name="s16-num-2">
            <a:extLst>
              <a:ext uri="{FF2B5EF4-FFF2-40B4-BE49-F238E27FC236}">
                <a16:creationId xmlns:a16="http://schemas.microsoft.com/office/drawing/2014/main" id="{D2FD0F5C-38EB-4349-BC58-C21FCFDE3578}"/>
              </a:ext>
            </a:extLst>
          </p:cNvPr>
          <p:cNvSpPr>
            <a:spLocks noGrp="1"/>
          </p:cNvSpPr>
          <p:nvPr/>
        </p:nvSpPr>
        <p:spPr>
          <a:xfrm>
            <a:off x="7562850" y="18859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250" b="1" i="0">
                <a:solidFill>
                  <a:srgbClr val="F39A72"/>
                </a:solidFill>
              </a:defRPr>
            </a:pPr>
            <a:r>
              <a:rPr sz="2250" b="1" i="0">
                <a:solidFill>
                  <a:srgbClr val="F39A72"/>
                </a:solidFill>
              </a:rPr>
              <a:t>03</a:t>
            </a:r>
          </a:p>
        </p:txBody>
      </p:sp>
      <p:sp>
        <p:nvSpPr>
          <p:cNvPr id="18" name="s16-label-2">
            <a:extLst>
              <a:ext uri="{FF2B5EF4-FFF2-40B4-BE49-F238E27FC236}">
                <a16:creationId xmlns:a16="http://schemas.microsoft.com/office/drawing/2014/main" id="{333E23AA-35B2-46B8-8068-F7A442F257C9}"/>
              </a:ext>
            </a:extLst>
          </p:cNvPr>
          <p:cNvSpPr>
            <a:spLocks noGrp="1"/>
          </p:cNvSpPr>
          <p:nvPr/>
        </p:nvSpPr>
        <p:spPr>
          <a:xfrm>
            <a:off x="7562850" y="2381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875" b="1" i="0">
                <a:solidFill>
                  <a:srgbClr val="F8F6F1"/>
                </a:solidFill>
              </a:defRPr>
            </a:pPr>
            <a:r>
              <a:rPr sz="1875" b="1" i="0">
                <a:solidFill>
                  <a:srgbClr val="F8F6F1"/>
                </a:solidFill>
              </a:rPr>
              <a:t>导数可信的目标</a:t>
            </a:r>
          </a:p>
        </p:txBody>
      </p:sp>
      <p:sp>
        <p:nvSpPr>
          <p:cNvPr id="19" name="s16-rule-2">
            <a:extLst>
              <a:ext uri="{FF2B5EF4-FFF2-40B4-BE49-F238E27FC236}">
                <a16:creationId xmlns:a16="http://schemas.microsoft.com/office/drawing/2014/main" id="{2110E83C-054B-44D6-BCD3-BEE08D939CA5}"/>
              </a:ext>
            </a:extLst>
          </p:cNvPr>
          <p:cNvSpPr>
            <a:spLocks noGrp="1"/>
          </p:cNvSpPr>
          <p:nvPr/>
        </p:nvSpPr>
        <p:spPr>
          <a:xfrm>
            <a:off x="7562850" y="2914650"/>
            <a:ext cx="838200" cy="28575"/>
          </a:xfrm>
          <a:prstGeom prst="rect">
            <a:avLst/>
          </a:prstGeom>
          <a:solidFill>
            <a:srgbClr val="D0E1D9"/>
          </a:solidFill>
          <a:ln w="0">
            <a:solidFill>
              <a:srgbClr val="D0E1D9"/>
            </a:solidFill>
            <a:prstDash val="solid"/>
          </a:ln>
        </p:spPr>
      </p:sp>
      <p:sp>
        <p:nvSpPr>
          <p:cNvPr id="20" name="s16-body-2">
            <a:extLst>
              <a:ext uri="{FF2B5EF4-FFF2-40B4-BE49-F238E27FC236}">
                <a16:creationId xmlns:a16="http://schemas.microsoft.com/office/drawing/2014/main" id="{91089899-C36E-4041-A153-A9900B32EAE2}"/>
              </a:ext>
            </a:extLst>
          </p:cNvPr>
          <p:cNvSpPr>
            <a:spLocks noGrp="1"/>
          </p:cNvSpPr>
          <p:nvPr/>
        </p:nvSpPr>
        <p:spPr>
          <a:xfrm>
            <a:off x="7562850" y="3238500"/>
            <a:ext cx="2857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50000"/>
              </a:lnSpc>
              <a:buNone/>
              <a:defRPr sz="1350" b="0" i="0">
                <a:solidFill>
                  <a:srgbClr val="DDE8E2"/>
                </a:solidFill>
              </a:defRPr>
            </a:pPr>
            <a:r>
              <a:rPr sz="1350" b="0" i="0" dirty="0" err="1">
                <a:solidFill>
                  <a:srgbClr val="DDE8E2"/>
                </a:solidFill>
              </a:rPr>
              <a:t>引入解析梯度与</a:t>
            </a:r>
            <a:r>
              <a:rPr sz="1350" b="0" i="0" dirty="0">
                <a:solidFill>
                  <a:srgbClr val="DDE8E2"/>
                </a:solidFill>
              </a:rPr>
              <a:t> H¹ </a:t>
            </a:r>
            <a:r>
              <a:rPr sz="1350" b="0" i="0" dirty="0" err="1">
                <a:solidFill>
                  <a:srgbClr val="DDE8E2"/>
                </a:solidFill>
              </a:rPr>
              <a:t>型损失</a:t>
            </a:r>
            <a:endParaRPr sz="1350" b="0" i="0" dirty="0">
              <a:solidFill>
                <a:srgbClr val="DDE8E2"/>
              </a:solidFill>
            </a:endParaRPr>
          </a:p>
          <a:p>
            <a:pPr algn="l">
              <a:lnSpc>
                <a:spcPct val="150000"/>
              </a:lnSpc>
              <a:buNone/>
              <a:defRPr sz="1350" b="0" i="0">
                <a:solidFill>
                  <a:srgbClr val="DDE8E2"/>
                </a:solidFill>
              </a:defRPr>
            </a:pPr>
            <a:r>
              <a:rPr sz="1350" b="0" i="0" dirty="0" err="1">
                <a:solidFill>
                  <a:srgbClr val="DDE8E2"/>
                </a:solidFill>
              </a:rPr>
              <a:t>验证梯度、闭合误差与敏感区域</a:t>
            </a:r>
            <a:endParaRPr sz="1350" b="0" i="0" dirty="0">
              <a:solidFill>
                <a:srgbClr val="DDE8E2"/>
              </a:solidFill>
            </a:endParaRPr>
          </a:p>
        </p:txBody>
      </p:sp>
      <p:sp>
        <p:nvSpPr>
          <p:cNvPr id="21" name="s16-final-bg">
            <a:extLst>
              <a:ext uri="{FF2B5EF4-FFF2-40B4-BE49-F238E27FC236}">
                <a16:creationId xmlns:a16="http://schemas.microsoft.com/office/drawing/2014/main" id="{C7A4900D-6FB7-4F52-9039-415C930098AA}"/>
              </a:ext>
            </a:extLst>
          </p:cNvPr>
          <p:cNvSpPr>
            <a:spLocks noGrp="1"/>
          </p:cNvSpPr>
          <p:nvPr/>
        </p:nvSpPr>
        <p:spPr>
          <a:xfrm>
            <a:off x="1219200" y="5010150"/>
            <a:ext cx="9753600" cy="876300"/>
          </a:xfrm>
          <a:prstGeom prst="rect">
            <a:avLst/>
          </a:prstGeom>
          <a:solidFill>
            <a:srgbClr val="244E42"/>
          </a:solidFill>
          <a:ln w="0">
            <a:solidFill>
              <a:srgbClr val="244E42"/>
            </a:solidFill>
            <a:prstDash val="solid"/>
          </a:ln>
        </p:spPr>
      </p:sp>
      <p:sp>
        <p:nvSpPr>
          <p:cNvPr id="22" name="s16-final">
            <a:extLst>
              <a:ext uri="{FF2B5EF4-FFF2-40B4-BE49-F238E27FC236}">
                <a16:creationId xmlns:a16="http://schemas.microsoft.com/office/drawing/2014/main" id="{1B23D576-980A-4F93-BC30-CE966B45F610}"/>
              </a:ext>
            </a:extLst>
          </p:cNvPr>
          <p:cNvSpPr>
            <a:spLocks noGrp="1"/>
          </p:cNvSpPr>
          <p:nvPr/>
        </p:nvSpPr>
        <p:spPr>
          <a:xfrm>
            <a:off x="1543050" y="5238750"/>
            <a:ext cx="9105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1875" b="1" i="0">
                <a:solidFill>
                  <a:srgbClr val="F8F6F1"/>
                </a:solidFill>
              </a:defRPr>
            </a:pPr>
            <a:r>
              <a:rPr sz="1875" b="1" i="0">
                <a:solidFill>
                  <a:srgbClr val="F8F6F1"/>
                </a:solidFill>
              </a:rPr>
              <a:t>可靠符号模型  =  可辨识观测  +  物理一致结构  +  导数感知优化</a:t>
            </a:r>
          </a:p>
        </p:txBody>
      </p:sp>
    </p:spTree>
    <p:extLst>
      <p:ext uri="{BB962C8B-B14F-4D97-AF65-F5344CB8AC3E}">
        <p14:creationId xmlns:p14="http://schemas.microsoft.com/office/powerpoint/2010/main" val="20911753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1159</Words>
  <Application>Microsoft Office PowerPoint</Application>
  <DocSecurity>0</DocSecurity>
  <PresentationFormat>宽屏</PresentationFormat>
  <Paragraphs>178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Calibri</vt:lpstr>
      <vt:lpstr>Cambria Math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cyue</cp:lastModifiedBy>
  <cp:revision>3</cp:revision>
  <dcterms:created xsi:type="dcterms:W3CDTF">2026-07-21T11:45:48Z</dcterms:created>
  <dcterms:modified xsi:type="dcterms:W3CDTF">2026-07-21T13:31:23Z</dcterms:modified>
</cp:coreProperties>
</file>