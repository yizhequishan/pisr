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0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16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基于物理信息符号回归的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单次仿真几何灵敏度分析</a:t>
            </a:r>
            <a:endParaRPr lang="en-US" sz="38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C4B3F3-9519-3510-4056-BAC144DCCA04}"/>
              </a:ext>
            </a:extLst>
          </p:cNvPr>
          <p:cNvSpPr txBox="1"/>
          <p:nvPr/>
        </p:nvSpPr>
        <p:spPr>
          <a:xfrm>
            <a:off x="547077" y="3141785"/>
            <a:ext cx="611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一次仿真数据获得几何优化的最佳方向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 ·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汇报大纲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941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项目背景与总体思路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研究动机 · 核心问题 · 技术路线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6733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1655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数据来源与基准算例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MeshGraphNets 数据 · 1024 采样点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86584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8658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1：尾流提取与无量纲化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非结构网格 → 规则网格 · u*(x/D, y/D)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0998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3081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2：物理信息符号回归 (PISR)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3355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 事后筛选 · Strategy B 约束进 loss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13048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8130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3：可视化验证与模型选择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前沿 · 场重建 · 散度残差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960120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22392" y="941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4：Euler 算子几何灵敏度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解析微分 · 零额外计算自验证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673352"/>
            <a:ext cx="41148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16733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22392" y="1655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方法假设、局限与未来工作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22392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 Re · 局部光滑 · 外部闭环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项目背景与总体思路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为什么只用一次仿真？Euler 算子如何把「空间分布」变成「参数灵敏度」？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项目背景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几何灵敏度分析的传统路径及其代价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传统做法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206240" cy="65836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54864" cy="658368"/>
          </a:xfrm>
          <a:prstGeom prst="rect">
            <a:avLst/>
          </a:prstGeom>
          <a:solidFill>
            <a:srgbClr val="B94A3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07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参数扫描 / 设计试验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计算量 ∝ 设计变量数 × 采样密度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4206240" cy="65836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66544"/>
            <a:ext cx="54864" cy="658368"/>
          </a:xfrm>
          <a:prstGeom prst="rect">
            <a:avLst/>
          </a:prstGeom>
          <a:solidFill>
            <a:srgbClr val="B94A3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112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有限差分扰动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386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∂/∂R 至少 2 次独立仿真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4206240" cy="65836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71216"/>
            <a:ext cx="54864" cy="658368"/>
          </a:xfrm>
          <a:prstGeom prst="rect">
            <a:avLst/>
          </a:prstGeom>
          <a:solidFill>
            <a:srgbClr val="B94A3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916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伴随法 (Adjoint)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191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实现门槛高；需侵入式代码改动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68680"/>
            <a:ext cx="3931920" cy="38404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68680"/>
            <a:ext cx="393192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核心研究问题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444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能否只用一次基准仿真，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1874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就从空间流场中恢复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对几何参数变化的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83480" y="2697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一阶解析灵敏度？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983480" y="3246120"/>
            <a:ext cx="36576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834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项目背景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总体技术路线：四步流水线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66544" cy="2880360"/>
          </a:xfrm>
          <a:prstGeom prst="rect">
            <a:avLst/>
          </a:prstGeom>
          <a:solidFill>
            <a:srgbClr val="F7F9FC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06654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155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尾流提取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MGN 时均数据 → 规则网格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13258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059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468880" y="2468880"/>
            <a:ext cx="91440" cy="137160"/>
          </a:xfrm>
          <a:prstGeom prst="rtTriangle">
            <a:avLst/>
          </a:prstGeom>
          <a:solidFill>
            <a:srgbClr val="C9A961"/>
          </a:solidFill>
          <a:ln/>
        </p:spPr>
      </p:sp>
      <p:sp>
        <p:nvSpPr>
          <p:cNvPr id="14" name="Shape 12"/>
          <p:cNvSpPr/>
          <p:nvPr/>
        </p:nvSpPr>
        <p:spPr>
          <a:xfrm>
            <a:off x="2578608" y="1097280"/>
            <a:ext cx="2066544" cy="2880360"/>
          </a:xfrm>
          <a:prstGeom prst="rect">
            <a:avLst/>
          </a:prstGeom>
          <a:solidFill>
            <a:srgbClr val="F7F9FC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78608" y="1097280"/>
            <a:ext cx="206654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11155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6276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符号回归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70048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(A / B 两策略)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44368" y="2331720"/>
            <a:ext cx="13258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245059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PySR · div 惩罚进 loss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输入严格限于 (ξ, η)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681728" y="2468880"/>
            <a:ext cx="91440" cy="137160"/>
          </a:xfrm>
          <a:prstGeom prst="rtTriangle">
            <a:avLst/>
          </a:prstGeom>
          <a:solidFill>
            <a:srgbClr val="C9A961"/>
          </a:solidFill>
          <a:ln/>
        </p:spPr>
      </p:sp>
      <p:sp>
        <p:nvSpPr>
          <p:cNvPr id="22" name="Shape 20"/>
          <p:cNvSpPr/>
          <p:nvPr/>
        </p:nvSpPr>
        <p:spPr>
          <a:xfrm>
            <a:off x="4791456" y="1097280"/>
            <a:ext cx="2066544" cy="2880360"/>
          </a:xfrm>
          <a:prstGeom prst="rect">
            <a:avLst/>
          </a:prstGeom>
          <a:solidFill>
            <a:srgbClr val="F7F9FC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91456" y="1097280"/>
            <a:ext cx="206654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11155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82896" y="16276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可视化验证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82896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· 场重建 · 散度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57216" y="2331720"/>
            <a:ext cx="13258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45059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6894576" y="2468880"/>
            <a:ext cx="91440" cy="137160"/>
          </a:xfrm>
          <a:prstGeom prst="rtTriangle">
            <a:avLst/>
          </a:prstGeom>
          <a:solidFill>
            <a:srgbClr val="C9A961"/>
          </a:solidFill>
          <a:ln/>
        </p:spPr>
      </p:sp>
      <p:sp>
        <p:nvSpPr>
          <p:cNvPr id="30" name="Shape 28"/>
          <p:cNvSpPr/>
          <p:nvPr/>
        </p:nvSpPr>
        <p:spPr>
          <a:xfrm>
            <a:off x="7004304" y="1097280"/>
            <a:ext cx="2066544" cy="2880360"/>
          </a:xfrm>
          <a:prstGeom prst="rect">
            <a:avLst/>
          </a:prstGeom>
          <a:solidFill>
            <a:srgbClr val="F7F9FC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04304" y="1097280"/>
            <a:ext cx="206654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004304" y="11155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95744" y="162763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Euler 灵敏度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95744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解析微分 + 自验证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70064" y="2331720"/>
            <a:ext cx="13258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1464" y="245059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S_R = −(2/D)ℰ[f]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零额外 CFD 计算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2066544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1605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单次仿真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78608" y="4160520"/>
            <a:ext cx="2066544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0" name="Text 38"/>
          <p:cNvSpPr/>
          <p:nvPr/>
        </p:nvSpPr>
        <p:spPr>
          <a:xfrm>
            <a:off x="2578608" y="41605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可解释闭式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91456" y="4160520"/>
            <a:ext cx="2066544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2" name="Text 40"/>
          <p:cNvSpPr/>
          <p:nvPr/>
        </p:nvSpPr>
        <p:spPr>
          <a:xfrm>
            <a:off x="4791456" y="41605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解析微分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04304" y="4160520"/>
            <a:ext cx="2066544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7004304" y="41605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计算自验证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项目背景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方法适用的核心前提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8412480" cy="74980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43584"/>
            <a:ext cx="73152" cy="74980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353312"/>
            <a:ext cx="5943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3533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3350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 Reynolds 数的几何缩放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6276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03120"/>
            <a:ext cx="73152" cy="74980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2212848"/>
            <a:ext cx="5943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21284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194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时均流场局部光滑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4871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回归区域内 u*(ξ, η) </a:t>
            </a:r>
            <a:r>
              <a:rPr lang="en-US" sz="11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足够平滑，符号导数才接近物理梯度而非插值噪声</a:t>
            </a: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62656"/>
            <a:ext cx="8412480" cy="74980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62656"/>
            <a:ext cx="73152" cy="74980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3072384"/>
            <a:ext cx="5943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07238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0540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小范围参数扰动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3467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δR/R 限于 1%–10% </a:t>
            </a:r>
            <a:r>
              <a:rPr lang="en-US" sz="11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量级的局部变化；不适用于拓扑性几何改变（圆柱→翼型</a:t>
            </a: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749808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22192"/>
            <a:ext cx="73152" cy="74980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" y="3931920"/>
            <a:ext cx="59436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9319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913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目标参数可等效为坐标尺度变化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2062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的变化等价于坐标 (x, y) 的各向同性缩放。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同样适用于弦长、直径这类「整体尺度」参数；对非相似性的旋转/剪切不成立。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数据来源与基准算例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数据来源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MeshGraphNets 基准算例关键参数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所有产物均基于 outputs_mgn/meta.json 的第 1 条 trajectory；对后半段时间步做时均。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4846320" cy="3291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几何 / 尺度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圆柱直径 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0.1136146113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入口速度  U_in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0.2391541153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圆柱中心 (c_x, c_y)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(0.3518, 0.1329)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规则网格步长 (dx, 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(0.01450, 0.00619)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采样窗口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尾流全域 ξ∈[2,8], η∈[−3,3]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×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回归子区 ξ∈[3,5]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× n_y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对称窗口 η∈[−1, 1]  (正式基线)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× 37 = 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时间平均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t_start  (统计稳态起点)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 尾流提取与无量纲化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1：把「CFD 时空场」压缩成「PISR 样本集」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E9F0F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868680"/>
            <a:ext cx="5486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914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00247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输出聚焦「圆柱后方尾流子区」的规则网格、时均、无量纲数据集  u*(ξ, η)，而非完整流场。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697480" cy="13716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37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TFRecord 解析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600200"/>
            <a:ext cx="2697480" cy="13716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737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58768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时均流场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2697480" cy="13716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737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93408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圆柱几何识别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18104"/>
            <a:ext cx="2697480" cy="13716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2552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38981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入口速度估计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371246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118104"/>
            <a:ext cx="2697480" cy="13716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2552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858768" y="32369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非结构 → 规则网格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01568" y="371246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118104"/>
            <a:ext cx="2697480" cy="13716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2552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693408" y="32369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子区筛选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36208" y="371246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</a:t>
            </a:r>
            <a:r>
              <a:rPr lang="zh-CN" alt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符号回归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732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2：从数据恢复可解释公式 u* = f(ξ, η)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97480" cy="374904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697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输入（592 点）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wake_data.csv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x_D, y_D, u_star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v_mean_wake.npy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dv*/d(y/D) 数据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D, U_in, 网格尺度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57484"/>
            <a:ext cx="2697480" cy="374904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697480" cy="457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868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搜索空间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PySR 二元：+ − × 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PySR 一元：sin cos exp square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变量：严格 (x_D, y_D)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niter =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popsize = 40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 = 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697480" cy="374904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68680"/>
            <a:ext cx="2697480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868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物理约束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不可压连续性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∂u*/∂ξ + ∂v*/∂η ≈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dvdy 仅进 loss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不进函数空间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λ_div</a:t>
            </a: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散度惩罚权重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默认</a:t>
            </a: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0.1, 可扫参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81728"/>
            <a:ext cx="84124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A ：标准符号回归 + 事后散度筛选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 A 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572000" cy="7132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80160"/>
            <a:ext cx="54864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350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PySR 以  MSE  为目标回归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(1/N) Σ (u_pred − u_data)²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572000" cy="7132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103120"/>
            <a:ext cx="54864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5798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对 Pareto 前沿每条候选式做符号求导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45059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∂f/∂ξ, ∂f/∂η  (sympy 解析微分)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572000" cy="7132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926080"/>
            <a:ext cx="54864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80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数值评估 du/dx 并与 dv/dy 拼合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= ∂u_pred/∂ξ + ∂v_data/∂η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572000" cy="71323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749040"/>
            <a:ext cx="54864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039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计算 div_rms / div_max  做事后筛选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用「物理一致性阈值」剔除不合格候选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868680"/>
            <a:ext cx="3657600" cy="37947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868680"/>
            <a:ext cx="36576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1051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策略特征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14173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搜索空间干净：SR 只关心 MSE；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不改动 PySR 的 Julia loss；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复现性高，实现最简。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物理约束是事后筛选，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未参与搜索方向引导；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Pareto 上可能没有任何一条既 MSE 低又 div_rms 低的公式。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B ：散度惩罚写进 Julia 自定义 loss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73152" cy="822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9326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复合损失函数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 =  MSE  +  λ_div · mean [ ( ∂u/∂x  +  ∂v/∂y )² 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两个关键实现细节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06240" cy="18288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94560"/>
            <a:ext cx="4206240" cy="7315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PySR 输入仅  (x_D, y_D)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dvdy 通过 inject_physics_globals() 注入 Julia 全局变量；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pisr_objective 中按网格索引读取；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候选公式 ∂u/∂x 由有限差分算；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搜索空间严格限于 f(x_D, y_D) 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194560"/>
            <a:ext cx="4069080" cy="18288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94560"/>
            <a:ext cx="4069080" cy="7315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317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物理约束进  loss，不进函数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SR「发明」出 dvdy 作为变量；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避免形式上的「闭式」实为数据量代入</a:t>
            </a: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 PINN 软约束 —— 数据只在训练期现身；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的 Euler 齐次性可无缝适用。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8412480" cy="4754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2062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相对 Strategy A：物理约束从「事后筛选」升级为「搜索引导」，Pareto 前沿的低复杂度端更早出现 1/x_D、cos(x_D) 等物理结构。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Step 2 · 结果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对称窗口基线下的代表性 Pareto 公式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164592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选择准则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div_rms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 x_D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4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最简含 x_D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0.008358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最简非平凡 x_D 结构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4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combined_loss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 1/x_D 物理可解释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063240"/>
            <a:ext cx="4160520" cy="16002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063240"/>
            <a:ext cx="4160520" cy="73152"/>
          </a:xfrm>
          <a:prstGeom prst="rect">
            <a:avLst/>
          </a:prstGeom>
          <a:solidFill>
            <a:srgbClr val="B94A3B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A★   (c = 25)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493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u* = (y_D+1.193)·1.196· cos( cos( (x_D − sin(y_D − sin(y_D(y_D+cos x_D)))) · (−0.183)) − y_D² 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cos(x_D ...) 提供非平凡流向调制；sin 嵌套捕捉剪切层非线性。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3063240"/>
            <a:ext cx="4160520" cy="160020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3063240"/>
            <a:ext cx="4160520" cy="73152"/>
          </a:xfrm>
          <a:prstGeom prst="rect">
            <a:avLst/>
          </a:prstGeom>
          <a:solidFill>
            <a:srgbClr val="B94A3B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B★   (c = 22)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3493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u* = exp( 0.865 · ( y_D + cos( 1.515·(0.149 − y_D)² − 2.283 / x_D ) − 0.797 ) )</a:t>
            </a:r>
            <a:endParaRPr lang="en-US" sz="1100" dirty="0"/>
          </a:p>
        </p:txBody>
      </p:sp>
      <p:sp>
        <p:nvSpPr>
          <p:cNvPr id="7" name="Text 14"/>
          <p:cNvSpPr/>
          <p:nvPr/>
        </p:nvSpPr>
        <p:spPr>
          <a:xfrm>
            <a:off x="475488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1/x_D 远尾流恢复项 ——  对应尾流亏损沿流向的 1/x 衰减规律。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Step 2 · 结果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散度惩罚权重 λ </a:t>
            </a:r>
            <a:r>
              <a:rPr lang="en-US" sz="22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扫参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937760" cy="2438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λ_div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最优 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对应 div_rms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退化为纯 MSE（等价 A）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惩罚过弱，基本无效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4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默认值 · 平衡点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 开始显著下降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 最优但 combined_loss 爆炸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188720"/>
            <a:ext cx="329184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1188720"/>
            <a:ext cx="329184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1353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关键观察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64592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单调 tradeoff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从 0→10  div_rms 从 0.089 → 0.042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反向缓慢上升。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λ=0.1  的工程合理性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只比最优劣化 ~34%，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886200"/>
            <a:ext cx="4937760" cy="777240"/>
          </a:xfrm>
          <a:prstGeom prst="rect">
            <a:avLst/>
          </a:prstGeom>
          <a:solidFill>
            <a:srgbClr val="E9F0F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931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决定「搜索要物理还是要拟合」。λ=0.1 是本工作采纳的默认值：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它在精度 × 物理一致性的 Pareto 前沿上接近膝点。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 可视化验证与模型选择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·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1 Pareto 前沿  ·  图 2 A/B 散度对比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D:/keyan/cylinder_flow_pisr/outputs_mgn/tmp_eta_sym_refactor/figures/01_pareto_fro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393192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1  Pareto 前沿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8686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D:/keyan/cylinder_flow_pisr/outputs_mgn/tmp_eta_sym_refactor/figures/02_divergence_compari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960120"/>
            <a:ext cx="393192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2  策略 A / B 散度残差对比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c=7 首次含 x_D（x_D²）  ·  c=14 出现 cos(x_D)  ·  c=25 达到 MSE=0.000872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c=6 首次含 x_D 线性项  ·  c=18 出现 1/x_D  ·  div_rms 由 0.102 降至 0.064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·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3  速度场重建：A★ 公式 vs CFD 真值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9436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D:/keyan/cylinder_flow_pisr/outputs_mgn/tmp_eta_sym_refactor/figures/03_velocity_field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5760720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868680"/>
            <a:ext cx="2331720" cy="379476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868680"/>
            <a:ext cx="233172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0241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0" y="1371600"/>
            <a:ext cx="2057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尾流宽度、剪切层位置与中心亏损区基本吻合。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cos(x_D ...) </a:t>
            </a:r>
            <a:r>
              <a:rPr lang="en-US" sz="10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项为重建提供流向调制</a:t>
            </a: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8.7×10⁻⁴  量级已远低于 CFD </a:t>
            </a:r>
            <a:r>
              <a:rPr lang="en-US" sz="10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时均场本身的插值粗糙度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·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4 散度热图  ·  图 5 误差分布  ·  图 6 中间剖面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D:/keyan/cylinder_flow_pisr/outputs_mgn/tmp_eta_sym_refactor/figures/04_divergence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2514600" cy="2423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4 散度热图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残差集中在剪切层边缘；与 v' 差分噪声一致。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D:/keyan/cylinder_flow_pisr/outputs_mgn/tmp_eta_sym_refactor/figures/05_error_distribu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960120"/>
            <a:ext cx="2514600" cy="2423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5 误差分布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误差无系统性方向；近似高斯分布。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86868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D:/keyan/cylinder_flow_pisr/outputs_mgn/tmp_eta_sym_refactor/figures/06_profile_compariso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960120"/>
            <a:ext cx="2514600" cy="24231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6 中间剖面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172200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对称窗口下剪切层两侧形态对称。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结论   A★ / B★ 均显式含 x_D 依赖 · div_rms 区分有效 · 误差水平足以支持 Step 4 的解析灵敏度映射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 Euler 算子几何灵敏度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Step 4 · 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Euler 齐次算子：从「空间梯度」到「参数灵敏度」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推导链（固定 Re 下的几何缩放）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75488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139903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ξ= x / D , η= y / D , D =2R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581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无量纲坐标定义。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75488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" y="2176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0574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ℰ [f] = ξ·∂f/∂ξ + η·∂f/∂η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3591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齐次算子。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75488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" y="295351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8346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∂u*/∂D = − (1/D)·ℰ[f]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1363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链式法则：D 变化等价 (ξ, η) 反向缩放。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75488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37307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6118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S_R= ∂u*/∂R  = − (2/D)·ℰ [ f 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913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 D = 2R，得到最终关系式。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28920" y="868680"/>
            <a:ext cx="3429000" cy="37947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868680"/>
            <a:ext cx="34290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1033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1371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空间中的 ∂/∂ξ, ∂/∂η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17373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在几何自相似下  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9120" y="170920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 R 的 ∂/∂R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0" y="2514600"/>
            <a:ext cx="31546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65176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含义：不需要重新仿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CFD → 空间场 → 符号公式 → 解析微分 → 参数灵敏度。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条件：需要 H1–H4 成立（固定 Re、光滑、小扰动、尺度变换）。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Step 4 · 结果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7 / 8   S_R 灵敏度热图 与 横向剖面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D:/keyan/cylinder_flow_pisr/outputs_mgn/tmp_eta_sym_refactor/figures/07_SR_sensitivity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397764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3159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7  S_R 空间分布（A★ 公式）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86868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D:/keyan/cylinder_flow_pisr/outputs_mgn/tmp_eta_sym_refactor/figures/08_SR_cross_section_profil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960120"/>
            <a:ext cx="4069080" cy="3337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43159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8  多策略下 S_R 横向剖面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Step 4 · 结果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10  Euler 算子分解：局部梯度 × 位置尺度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7607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D:/keyan/cylinder_flow_pisr/outputs_mgn/tmp_eta_sym_refactor/figures/10_euler_operator_decomposi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5577840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868680"/>
            <a:ext cx="2514600" cy="379476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63640" y="868680"/>
            <a:ext cx="25146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024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物理含义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137160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ℰ[f] = ξ·∂ξf + η·∂ηf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由两项共同决定：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局部梯度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∂ξf 捕捉尾流沿流向恢复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∂ηf 捕捉剪切层横向结构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位置尺度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远离原点的 (ξ, η) 自动获得更大权重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几何 R 变化在远尾流影响放大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方法局限与未来工作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749808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685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· 局限与展望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当前局限 ×  未来工作方向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60520" cy="379476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4160520" cy="73152"/>
          </a:xfrm>
          <a:prstGeom prst="rect">
            <a:avLst/>
          </a:prstGeom>
          <a:solidFill>
            <a:srgbClr val="B94A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zh-CN" altLang="en-US" sz="1100" b="1" dirty="0">
                <a:solidFill>
                  <a:srgbClr val="B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验证数量有限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82496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仅进行圆柱绕流验证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圆柱检测与插值对数据分布敏感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487168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密度估计回退机制虽然存在，仍有鲁棒性风险。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外部物理验证尚未闭环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29184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还未进行仿真后敏感度验证。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114800" cy="37947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68680"/>
            <a:ext cx="41148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241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未来方向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389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外部 CFD 闭环验证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168249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R 独立仿真 → 对比 S_R 预测的真实偏差谱。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扩展到多参数灵敏度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4871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同时处理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；Euler 算子推广形式。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r>
              <a:rPr lang="zh-CN" alt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进一步改进物理约束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329184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6DC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PISR · 圆柱绕流尾流区几何灵敏度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1817</Words>
  <Application>Microsoft Office PowerPoint</Application>
  <PresentationFormat>全屏显示(16:9)</PresentationFormat>
  <Paragraphs>405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Cylinder Flow PISR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PISR 的单次仿真几何灵敏度分析</dc:title>
  <dc:subject>Physics-Informed Symbolic Regression for Cylinder Wake</dc:subject>
  <dc:creator>Research Group</dc:creator>
  <cp:lastModifiedBy>cyue</cp:lastModifiedBy>
  <cp:revision>4</cp:revision>
  <dcterms:created xsi:type="dcterms:W3CDTF">2026-04-22T10:54:51Z</dcterms:created>
  <dcterms:modified xsi:type="dcterms:W3CDTF">2026-04-24T07:54:44Z</dcterms:modified>
</cp:coreProperties>
</file>